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  <p:sldMasterId id="2147483669" r:id="rId4"/>
    <p:sldMasterId id="2147483681" r:id="rId5"/>
    <p:sldMasterId id="2147483692" r:id="rId6"/>
    <p:sldMasterId id="2147483697" r:id="rId7"/>
  </p:sldMasterIdLst>
  <p:notesMasterIdLst>
    <p:notesMasterId r:id="rId9"/>
  </p:notesMasterIdLst>
  <p:sldIdLst>
    <p:sldId id="282" r:id="rId8"/>
    <p:sldId id="285" r:id="rId10"/>
    <p:sldId id="284" r:id="rId11"/>
    <p:sldId id="257" r:id="rId12"/>
    <p:sldId id="286" r:id="rId13"/>
    <p:sldId id="259" r:id="rId14"/>
    <p:sldId id="260" r:id="rId15"/>
    <p:sldId id="287" r:id="rId16"/>
    <p:sldId id="263" r:id="rId17"/>
    <p:sldId id="264" r:id="rId18"/>
    <p:sldId id="265" r:id="rId19"/>
    <p:sldId id="266" r:id="rId20"/>
    <p:sldId id="267" r:id="rId21"/>
    <p:sldId id="288" r:id="rId22"/>
    <p:sldId id="269" r:id="rId23"/>
    <p:sldId id="271" r:id="rId24"/>
    <p:sldId id="291" r:id="rId25"/>
    <p:sldId id="273" r:id="rId26"/>
    <p:sldId id="274" r:id="rId27"/>
    <p:sldId id="290" r:id="rId28"/>
    <p:sldId id="278" r:id="rId29"/>
    <p:sldId id="28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34475"/>
    <a:srgbClr val="943434"/>
    <a:srgbClr val="2F5597"/>
    <a:srgbClr val="163D60"/>
    <a:srgbClr val="1A3F6C"/>
    <a:srgbClr val="193B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2549" autoAdjust="0"/>
  </p:normalViewPr>
  <p:slideViewPr>
    <p:cSldViewPr snapToGrid="0">
      <p:cViewPr varScale="1">
        <p:scale>
          <a:sx n="147" d="100"/>
          <a:sy n="147" d="100"/>
        </p:scale>
        <p:origin x="77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ADA4B-CB2B-4836-814D-503A069F30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51F16-B96A-4A78-9E0D-12BC7D9C50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4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E9875DF-9418-4FAB-A071-7869A863D82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5.jpeg"/><Relationship Id="rId2" Type="http://schemas.openxmlformats.org/officeDocument/2006/relationships/tags" Target="../tags/tag3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6474948"/>
            <a:ext cx="12192000" cy="38305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77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9513" y="996718"/>
            <a:ext cx="10327904" cy="60959"/>
            <a:chOff x="247135" y="747537"/>
            <a:chExt cx="7745928" cy="45719"/>
          </a:xfrm>
          <a:solidFill>
            <a:srgbClr val="1A3F6C"/>
          </a:solidFill>
        </p:grpSpPr>
        <p:cxnSp>
          <p:nvCxnSpPr>
            <p:cNvPr id="4" name="直接连接符 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pic>
        <p:nvPicPr>
          <p:cNvPr id="7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29513" y="996718"/>
            <a:ext cx="10327904" cy="60959"/>
            <a:chOff x="247135" y="747537"/>
            <a:chExt cx="7745928" cy="45719"/>
          </a:xfrm>
          <a:solidFill>
            <a:srgbClr val="1A3F6C"/>
          </a:solidFill>
        </p:grpSpPr>
        <p:cxnSp>
          <p:nvCxnSpPr>
            <p:cNvPr id="4" name="直接连接符 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pic>
        <p:nvPicPr>
          <p:cNvPr id="2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C36B-FEB6-4842-88BA-8D822531BFD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29512" y="773431"/>
            <a:ext cx="11666273" cy="60959"/>
            <a:chOff x="247134" y="747537"/>
            <a:chExt cx="8749705" cy="45719"/>
          </a:xfrm>
          <a:solidFill>
            <a:srgbClr val="1A3F6C"/>
          </a:solidFill>
        </p:grpSpPr>
        <p:cxnSp>
          <p:nvCxnSpPr>
            <p:cNvPr id="11" name="直接连接符 10"/>
            <p:cNvCxnSpPr/>
            <p:nvPr/>
          </p:nvCxnSpPr>
          <p:spPr>
            <a:xfrm flipH="1">
              <a:off x="247135" y="770396"/>
              <a:ext cx="8749704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47134" y="747537"/>
              <a:ext cx="3406894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1" y="6474948"/>
            <a:ext cx="12192000" cy="38305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77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15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图片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7" y="-133557"/>
            <a:ext cx="12202584" cy="674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438151" y="6500813"/>
            <a:ext cx="111146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 descr="C:\Users\whaty\Desktop\图片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" t="2419" r="83099" b="79340"/>
          <a:stretch>
            <a:fillRect/>
          </a:stretch>
        </p:blipFill>
        <p:spPr bwMode="auto">
          <a:xfrm>
            <a:off x="27517" y="5653089"/>
            <a:ext cx="88688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4286250"/>
            <a:ext cx="12192000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826475" y="5604504"/>
            <a:ext cx="4539050" cy="5042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汇报人：</a:t>
            </a:r>
            <a:r>
              <a:rPr lang="en-US" altLang="zh-CN" dirty="0"/>
              <a:t>xxx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1908274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8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65" r="-432"/>
          <a:stretch>
            <a:fillRect/>
          </a:stretch>
        </p:blipFill>
        <p:spPr>
          <a:xfrm>
            <a:off x="0" y="1101725"/>
            <a:ext cx="12278360" cy="36804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4286250"/>
            <a:ext cx="12192000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826475" y="5604504"/>
            <a:ext cx="4539050" cy="5042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汇报人：</a:t>
            </a:r>
            <a:r>
              <a:rPr lang="en-US" altLang="zh-CN" dirty="0"/>
              <a:t>xxx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1908274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8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65" r="-432"/>
          <a:stretch>
            <a:fillRect/>
          </a:stretch>
        </p:blipFill>
        <p:spPr>
          <a:xfrm>
            <a:off x="0" y="1101725"/>
            <a:ext cx="12278360" cy="36804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32"/>
          <a:stretch>
            <a:fillRect/>
          </a:stretch>
        </p:blipFill>
        <p:spPr>
          <a:xfrm>
            <a:off x="-63500" y="-19652"/>
            <a:ext cx="4093210" cy="6894195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1657349"/>
            <a:ext cx="1172210" cy="27305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1930400"/>
            <a:ext cx="1172210" cy="273051"/>
          </a:xfrm>
          <a:prstGeom prst="rect">
            <a:avLst/>
          </a:prstGeom>
        </p:spPr>
      </p:pic>
      <p:pic>
        <p:nvPicPr>
          <p:cNvPr id="16" name="图片 15"/>
          <p:cNvPicPr/>
          <p:nvPr userDrawn="1">
            <p:custDataLst>
              <p:tags r:id="rId6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2066925"/>
            <a:ext cx="1172210" cy="273051"/>
          </a:xfrm>
          <a:prstGeom prst="rect">
            <a:avLst/>
          </a:prstGeom>
        </p:spPr>
      </p:pic>
      <p:pic>
        <p:nvPicPr>
          <p:cNvPr id="17" name="图片 16"/>
          <p:cNvPicPr/>
          <p:nvPr userDrawn="1">
            <p:custDataLst>
              <p:tags r:id="rId7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2339976"/>
            <a:ext cx="1172210" cy="273051"/>
          </a:xfrm>
          <a:prstGeom prst="rect">
            <a:avLst/>
          </a:prstGeom>
        </p:spPr>
      </p:pic>
      <p:pic>
        <p:nvPicPr>
          <p:cNvPr id="18" name="图片 17"/>
          <p:cNvPicPr/>
          <p:nvPr userDrawn="1">
            <p:custDataLst>
              <p:tags r:id="rId8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2609847"/>
            <a:ext cx="1172210" cy="273051"/>
          </a:xfrm>
          <a:prstGeom prst="rect">
            <a:avLst/>
          </a:prstGeom>
        </p:spPr>
      </p:pic>
      <p:pic>
        <p:nvPicPr>
          <p:cNvPr id="19" name="图片 18"/>
          <p:cNvPicPr/>
          <p:nvPr userDrawn="1">
            <p:custDataLst>
              <p:tags r:id="rId9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2882898"/>
            <a:ext cx="1172210" cy="273051"/>
          </a:xfrm>
          <a:prstGeom prst="rect">
            <a:avLst/>
          </a:prstGeom>
        </p:spPr>
      </p:pic>
      <p:pic>
        <p:nvPicPr>
          <p:cNvPr id="20" name="图片 19"/>
          <p:cNvPicPr/>
          <p:nvPr userDrawn="1">
            <p:custDataLst>
              <p:tags r:id="rId10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3019423"/>
            <a:ext cx="1172210" cy="273051"/>
          </a:xfrm>
          <a:prstGeom prst="rect">
            <a:avLst/>
          </a:prstGeom>
        </p:spPr>
      </p:pic>
      <p:pic>
        <p:nvPicPr>
          <p:cNvPr id="21" name="图片 20"/>
          <p:cNvPicPr/>
          <p:nvPr userDrawn="1">
            <p:custDataLst>
              <p:tags r:id="rId1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3292474"/>
            <a:ext cx="1172210" cy="273051"/>
          </a:xfrm>
          <a:prstGeom prst="rect">
            <a:avLst/>
          </a:prstGeom>
        </p:spPr>
      </p:pic>
      <p:pic>
        <p:nvPicPr>
          <p:cNvPr id="22" name="图片 21"/>
          <p:cNvPicPr/>
          <p:nvPr userDrawn="1">
            <p:custDataLst>
              <p:tags r:id="rId1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3617910"/>
            <a:ext cx="1172210" cy="273051"/>
          </a:xfrm>
          <a:prstGeom prst="rect">
            <a:avLst/>
          </a:prstGeom>
        </p:spPr>
      </p:pic>
      <p:pic>
        <p:nvPicPr>
          <p:cNvPr id="23" name="图片 22"/>
          <p:cNvPicPr/>
          <p:nvPr userDrawn="1">
            <p:custDataLst>
              <p:tags r:id="rId13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3890961"/>
            <a:ext cx="1172210" cy="273051"/>
          </a:xfrm>
          <a:prstGeom prst="rect">
            <a:avLst/>
          </a:prstGeom>
        </p:spPr>
      </p:pic>
      <p:pic>
        <p:nvPicPr>
          <p:cNvPr id="24" name="图片 23"/>
          <p:cNvPicPr/>
          <p:nvPr userDrawn="1">
            <p:custDataLst>
              <p:tags r:id="rId1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4027486"/>
            <a:ext cx="1172210" cy="273051"/>
          </a:xfrm>
          <a:prstGeom prst="rect">
            <a:avLst/>
          </a:prstGeom>
        </p:spPr>
      </p:pic>
      <p:pic>
        <p:nvPicPr>
          <p:cNvPr id="25" name="图片 24"/>
          <p:cNvPicPr/>
          <p:nvPr userDrawn="1">
            <p:custDataLst>
              <p:tags r:id="rId15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4300537"/>
            <a:ext cx="1172210" cy="273051"/>
          </a:xfrm>
          <a:prstGeom prst="rect">
            <a:avLst/>
          </a:prstGeom>
        </p:spPr>
      </p:pic>
      <p:pic>
        <p:nvPicPr>
          <p:cNvPr id="26" name="图片 25"/>
          <p:cNvPicPr/>
          <p:nvPr userDrawn="1">
            <p:custDataLst>
              <p:tags r:id="rId16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4570408"/>
            <a:ext cx="1172210" cy="273051"/>
          </a:xfrm>
          <a:prstGeom prst="rect">
            <a:avLst/>
          </a:prstGeom>
        </p:spPr>
      </p:pic>
      <p:pic>
        <p:nvPicPr>
          <p:cNvPr id="27" name="图片 26"/>
          <p:cNvPicPr/>
          <p:nvPr userDrawn="1">
            <p:custDataLst>
              <p:tags r:id="rId17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4843459"/>
            <a:ext cx="1172210" cy="273051"/>
          </a:xfrm>
          <a:prstGeom prst="rect">
            <a:avLst/>
          </a:prstGeom>
        </p:spPr>
      </p:pic>
      <p:pic>
        <p:nvPicPr>
          <p:cNvPr id="28" name="图片 27"/>
          <p:cNvPicPr/>
          <p:nvPr userDrawn="1">
            <p:custDataLst>
              <p:tags r:id="rId18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4979984"/>
            <a:ext cx="1172210" cy="273051"/>
          </a:xfrm>
          <a:prstGeom prst="rect">
            <a:avLst/>
          </a:prstGeom>
        </p:spPr>
      </p:pic>
      <p:pic>
        <p:nvPicPr>
          <p:cNvPr id="29" name="图片 28"/>
          <p:cNvPicPr/>
          <p:nvPr userDrawn="1">
            <p:custDataLst>
              <p:tags r:id="rId19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16" t="18408" b="77631"/>
          <a:stretch>
            <a:fillRect/>
          </a:stretch>
        </p:blipFill>
        <p:spPr>
          <a:xfrm>
            <a:off x="2857500" y="5253035"/>
            <a:ext cx="1172210" cy="2730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65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zuser;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872682" y="1220087"/>
            <a:ext cx="446637" cy="0"/>
          </a:xfrm>
          <a:prstGeom prst="line">
            <a:avLst/>
          </a:prstGeom>
          <a:ln w="28575">
            <a:solidFill>
              <a:srgbClr val="2D4F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9"/>
            <a:ext cx="4873575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65"/>
            </a:lvl4pPr>
            <a:lvl5pPr marL="1828800" indent="0">
              <a:buNone/>
              <a:defRPr sz="1865"/>
            </a:lvl5pPr>
            <a:lvl6pPr marL="2286000" indent="0">
              <a:buNone/>
              <a:defRPr sz="1865"/>
            </a:lvl6pPr>
            <a:lvl7pPr marL="2743200" indent="0">
              <a:buNone/>
              <a:defRPr sz="1865"/>
            </a:lvl7pPr>
            <a:lvl8pPr marL="3200400" indent="0">
              <a:buNone/>
              <a:defRPr sz="1865"/>
            </a:lvl8pPr>
            <a:lvl9pPr marL="3657600" indent="0">
              <a:buNone/>
              <a:defRPr sz="18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65"/>
            </a:lvl4pPr>
            <a:lvl5pPr marL="1828800" indent="0">
              <a:buNone/>
              <a:defRPr sz="1865"/>
            </a:lvl5pPr>
            <a:lvl6pPr marL="2286000" indent="0">
              <a:buNone/>
              <a:defRPr sz="1865"/>
            </a:lvl6pPr>
            <a:lvl7pPr marL="2743200" indent="0">
              <a:buNone/>
              <a:defRPr sz="1865"/>
            </a:lvl7pPr>
            <a:lvl8pPr marL="3200400" indent="0">
              <a:buNone/>
              <a:defRPr sz="1865"/>
            </a:lvl8pPr>
            <a:lvl9pPr marL="3657600" indent="0">
              <a:buNone/>
              <a:defRPr sz="18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65"/>
            </a:lvl2pPr>
            <a:lvl3pPr marL="914400" indent="0">
              <a:buNone/>
              <a:defRPr sz="1600"/>
            </a:lvl3pPr>
            <a:lvl4pPr marL="1371600" indent="0">
              <a:buNone/>
              <a:defRPr sz="1465"/>
            </a:lvl4pPr>
            <a:lvl5pPr marL="1828800" indent="0">
              <a:buNone/>
              <a:defRPr sz="1465"/>
            </a:lvl5pPr>
            <a:lvl6pPr marL="2286000" indent="0">
              <a:buNone/>
              <a:defRPr sz="1465"/>
            </a:lvl6pPr>
            <a:lvl7pPr marL="2743200" indent="0">
              <a:buNone/>
              <a:defRPr sz="1465"/>
            </a:lvl7pPr>
            <a:lvl8pPr marL="3200400" indent="0">
              <a:buNone/>
              <a:defRPr sz="1465"/>
            </a:lvl8pPr>
            <a:lvl9pPr marL="3657600" indent="0">
              <a:buNone/>
              <a:defRPr sz="14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6"/>
            <a:ext cx="10515600" cy="58118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6474948"/>
            <a:ext cx="12192000" cy="38305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77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9513" y="996718"/>
            <a:ext cx="10327904" cy="60959"/>
            <a:chOff x="247135" y="747537"/>
            <a:chExt cx="7745928" cy="45719"/>
          </a:xfrm>
          <a:solidFill>
            <a:srgbClr val="1A3F6C"/>
          </a:solidFill>
        </p:grpSpPr>
        <p:cxnSp>
          <p:nvCxnSpPr>
            <p:cNvPr id="4" name="直接连接符 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pic>
        <p:nvPicPr>
          <p:cNvPr id="7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29513" y="996718"/>
            <a:ext cx="10327904" cy="60959"/>
            <a:chOff x="247135" y="747537"/>
            <a:chExt cx="7745928" cy="45719"/>
          </a:xfrm>
          <a:solidFill>
            <a:srgbClr val="1A3F6C"/>
          </a:solidFill>
        </p:grpSpPr>
        <p:cxnSp>
          <p:nvCxnSpPr>
            <p:cNvPr id="4" name="直接连接符 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pic>
        <p:nvPicPr>
          <p:cNvPr id="2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C36B-FEB6-4842-88BA-8D822531BFD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29512" y="773431"/>
            <a:ext cx="11666273" cy="60959"/>
            <a:chOff x="247134" y="747537"/>
            <a:chExt cx="8749705" cy="45719"/>
          </a:xfrm>
          <a:solidFill>
            <a:srgbClr val="1A3F6C"/>
          </a:solidFill>
        </p:grpSpPr>
        <p:cxnSp>
          <p:nvCxnSpPr>
            <p:cNvPr id="11" name="直接连接符 10"/>
            <p:cNvCxnSpPr/>
            <p:nvPr/>
          </p:nvCxnSpPr>
          <p:spPr>
            <a:xfrm flipH="1">
              <a:off x="247135" y="770396"/>
              <a:ext cx="8749704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47134" y="747537"/>
              <a:ext cx="3406894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1" y="6474948"/>
            <a:ext cx="12192000" cy="38305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77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15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图片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7" y="-133557"/>
            <a:ext cx="12202584" cy="674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438151" y="6500813"/>
            <a:ext cx="111146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 descr="C:\Users\whaty\Desktop\图片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" t="2419" r="83099" b="79340"/>
          <a:stretch>
            <a:fillRect/>
          </a:stretch>
        </p:blipFill>
        <p:spPr bwMode="auto">
          <a:xfrm>
            <a:off x="27517" y="5653089"/>
            <a:ext cx="88688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6474948"/>
            <a:ext cx="12192000" cy="38305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77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9513" y="996718"/>
            <a:ext cx="10327904" cy="60959"/>
            <a:chOff x="247135" y="747537"/>
            <a:chExt cx="7745928" cy="45719"/>
          </a:xfrm>
          <a:solidFill>
            <a:srgbClr val="1A3F6C"/>
          </a:solidFill>
        </p:grpSpPr>
        <p:cxnSp>
          <p:nvCxnSpPr>
            <p:cNvPr id="4" name="直接连接符 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pic>
        <p:nvPicPr>
          <p:cNvPr id="7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29513" y="996718"/>
            <a:ext cx="10327904" cy="60959"/>
            <a:chOff x="247135" y="747537"/>
            <a:chExt cx="7745928" cy="45719"/>
          </a:xfrm>
          <a:solidFill>
            <a:srgbClr val="1A3F6C"/>
          </a:solidFill>
        </p:grpSpPr>
        <p:cxnSp>
          <p:nvCxnSpPr>
            <p:cNvPr id="4" name="直接连接符 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pic>
        <p:nvPicPr>
          <p:cNvPr id="2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C36B-FEB6-4842-88BA-8D822531BFD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29512" y="773431"/>
            <a:ext cx="11666273" cy="60959"/>
            <a:chOff x="247134" y="747537"/>
            <a:chExt cx="8749705" cy="45719"/>
          </a:xfrm>
          <a:solidFill>
            <a:srgbClr val="1A3F6C"/>
          </a:solidFill>
        </p:grpSpPr>
        <p:cxnSp>
          <p:nvCxnSpPr>
            <p:cNvPr id="11" name="直接连接符 10"/>
            <p:cNvCxnSpPr/>
            <p:nvPr/>
          </p:nvCxnSpPr>
          <p:spPr>
            <a:xfrm flipH="1">
              <a:off x="247135" y="770396"/>
              <a:ext cx="8749704" cy="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47134" y="747537"/>
              <a:ext cx="3406894" cy="45719"/>
            </a:xfrm>
            <a:prstGeom prst="rect">
              <a:avLst/>
            </a:pr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6774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1" y="6474948"/>
            <a:ext cx="12192000" cy="38305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677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15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图片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7" y="-133557"/>
            <a:ext cx="12202584" cy="674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438151" y="6500813"/>
            <a:ext cx="111146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 descr="C:\Users\whaty\Desktop\图片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" t="2419" r="83099" b="79340"/>
          <a:stretch>
            <a:fillRect/>
          </a:stretch>
        </p:blipFill>
        <p:spPr bwMode="auto">
          <a:xfrm>
            <a:off x="27517" y="5653089"/>
            <a:ext cx="88688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3" Type="http://schemas.openxmlformats.org/officeDocument/2006/relationships/theme" Target="../theme/theme4.xml"/><Relationship Id="rId12" Type="http://schemas.openxmlformats.org/officeDocument/2006/relationships/image" Target="../media/image7.png"/><Relationship Id="rId11" Type="http://schemas.openxmlformats.org/officeDocument/2006/relationships/image" Target="../media/image6.jpeg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6.xml.rels><?xml version="1.0" encoding="UTF-8" standalone="yes"?>
<Relationships xmlns="http://schemas.openxmlformats.org/package/2006/relationships"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22" y="364574"/>
            <a:ext cx="10515559" cy="1325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22" y="1826225"/>
            <a:ext cx="10515559" cy="435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23" y="6355664"/>
            <a:ext cx="2743115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B726BC0-20AF-49EA-A6BE-24CCB4D983B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244" y="6355664"/>
            <a:ext cx="4115515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64" y="6355664"/>
            <a:ext cx="2743117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E7BA442-BC94-4D8E-A413-ED63003CF5D1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fade/>
  </p:transition>
  <p:txStyles>
    <p:titleStyle>
      <a:lvl1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83870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67740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450975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934845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defTabSz="913765" rtl="0" eaLnBrk="0" fontAlgn="base" hangingPunct="0">
        <a:lnSpc>
          <a:spcPct val="90000"/>
        </a:lnSpc>
        <a:spcBef>
          <a:spcPts val="1005"/>
        </a:spcBef>
        <a:spcAft>
          <a:spcPct val="0"/>
        </a:spcAft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98930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BE516-2610-4C3A-B35F-EB879731F4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31D60-9DFC-40B9-8610-B00C90FF3C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F4DF5-F75B-4DD5-B950-A789DF8D3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EE800-4CB8-4967-8008-66390B8F0E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任意多边形 7"/>
          <p:cNvSpPr/>
          <p:nvPr userDrawn="1"/>
        </p:nvSpPr>
        <p:spPr>
          <a:xfrm>
            <a:off x="0" y="0"/>
            <a:ext cx="6326307" cy="6858000"/>
          </a:xfrm>
          <a:custGeom>
            <a:avLst/>
            <a:gdLst>
              <a:gd name="connsiteX0" fmla="*/ 0 w 3937796"/>
              <a:gd name="connsiteY0" fmla="*/ 0 h 5143500"/>
              <a:gd name="connsiteX1" fmla="*/ 3937796 w 3937796"/>
              <a:gd name="connsiteY1" fmla="*/ 0 h 5143500"/>
              <a:gd name="connsiteX2" fmla="*/ 2355181 w 3937796"/>
              <a:gd name="connsiteY2" fmla="*/ 5143500 h 5143500"/>
              <a:gd name="connsiteX3" fmla="*/ 0 w 3937796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7796" h="5143500">
                <a:moveTo>
                  <a:pt x="0" y="0"/>
                </a:moveTo>
                <a:lnTo>
                  <a:pt x="3937796" y="0"/>
                </a:lnTo>
                <a:lnTo>
                  <a:pt x="2355181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ED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385011" y="290007"/>
            <a:ext cx="11421979" cy="6277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1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" t="2328" r="2228" b="4313"/>
          <a:stretch>
            <a:fillRect/>
          </a:stretch>
        </p:blipFill>
        <p:spPr>
          <a:xfrm>
            <a:off x="385010" y="290004"/>
            <a:ext cx="11421979" cy="6277989"/>
          </a:xfrm>
          <a:prstGeom prst="rect">
            <a:avLst/>
          </a:prstGeom>
        </p:spPr>
      </p:pic>
      <p:pic>
        <p:nvPicPr>
          <p:cNvPr id="13" name="图片 12" descr="黑胶唱片的封面&#10;&#10;AI 生成的内容可能不正确。"/>
          <p:cNvPicPr>
            <a:picLocks noChangeAspect="1"/>
          </p:cNvPicPr>
          <p:nvPr userDrawn="1"/>
        </p:nvPicPr>
        <p:blipFill>
          <a:blip r:embed="rId1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7600" y="0"/>
            <a:ext cx="6027908" cy="29694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transition spd="slow" advClick="0" advTm="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22" y="364574"/>
            <a:ext cx="10515559" cy="1325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22" y="1826225"/>
            <a:ext cx="10515559" cy="435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23" y="6355664"/>
            <a:ext cx="2743115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B726BC0-20AF-49EA-A6BE-24CCB4D983B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244" y="6355664"/>
            <a:ext cx="4115515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64" y="6355664"/>
            <a:ext cx="2743117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E7BA442-BC94-4D8E-A413-ED63003CF5D1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</p:sldLayoutIdLst>
  <p:transition spd="slow">
    <p:fade/>
  </p:transition>
  <p:txStyles>
    <p:titleStyle>
      <a:lvl1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83870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67740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450975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934845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defTabSz="913765" rtl="0" eaLnBrk="0" fontAlgn="base" hangingPunct="0">
        <a:lnSpc>
          <a:spcPct val="90000"/>
        </a:lnSpc>
        <a:spcBef>
          <a:spcPts val="1005"/>
        </a:spcBef>
        <a:spcAft>
          <a:spcPct val="0"/>
        </a:spcAft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98930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22" y="364574"/>
            <a:ext cx="10515559" cy="1325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22" y="1826225"/>
            <a:ext cx="10515559" cy="435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23" y="6355664"/>
            <a:ext cx="2743115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B726BC0-20AF-49EA-A6BE-24CCB4D983B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244" y="6355664"/>
            <a:ext cx="4115515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64" y="6355664"/>
            <a:ext cx="2743117" cy="366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77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E7BA442-BC94-4D8E-A413-ED63003CF5D1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ransition spd="slow">
    <p:fade/>
  </p:transition>
  <p:txStyles>
    <p:titleStyle>
      <a:lvl1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defTabSz="91376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83870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67740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450975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934845" algn="l" defTabSz="913765" rtl="0" fontAlgn="base">
        <a:lnSpc>
          <a:spcPct val="90000"/>
        </a:lnSpc>
        <a:spcBef>
          <a:spcPct val="0"/>
        </a:spcBef>
        <a:spcAft>
          <a:spcPct val="0"/>
        </a:spcAft>
        <a:defRPr sz="4335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defTabSz="913765" rtl="0" eaLnBrk="0" fontAlgn="base" hangingPunct="0">
        <a:lnSpc>
          <a:spcPct val="90000"/>
        </a:lnSpc>
        <a:spcBef>
          <a:spcPts val="1005"/>
        </a:spcBef>
        <a:spcAft>
          <a:spcPct val="0"/>
        </a:spcAft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98930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0" fontAlgn="base" hangingPunct="0">
        <a:lnSpc>
          <a:spcPct val="90000"/>
        </a:lnSpc>
        <a:spcBef>
          <a:spcPts val="50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9.xml"/><Relationship Id="rId20" Type="http://schemas.openxmlformats.org/officeDocument/2006/relationships/image" Target="../media/image10.png"/><Relationship Id="rId2" Type="http://schemas.openxmlformats.org/officeDocument/2006/relationships/image" Target="../media/image8.png"/><Relationship Id="rId19" Type="http://schemas.openxmlformats.org/officeDocument/2006/relationships/image" Target="../media/image9.jpeg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image" Target="../media/image1.png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0.jpe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592370" y="5266040"/>
            <a:ext cx="9007254" cy="5560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2F5597"/>
                </a:solidFill>
              </a:rPr>
              <a:t>团队</a:t>
            </a:r>
            <a:r>
              <a:rPr lang="zh-CN" altLang="en-US" sz="2800" dirty="0">
                <a:solidFill>
                  <a:srgbClr val="2F5597"/>
                </a:solidFill>
              </a:rPr>
              <a:t>成员：卢冠宇，</a:t>
            </a:r>
            <a:r>
              <a:rPr lang="zh-CN" altLang="en-US" sz="2800" dirty="0">
                <a:solidFill>
                  <a:srgbClr val="2F5597"/>
                </a:solidFill>
              </a:rPr>
              <a:t>宋明浩   </a:t>
            </a:r>
            <a:endParaRPr lang="zh-CN" altLang="en-US" sz="2800" dirty="0">
              <a:solidFill>
                <a:srgbClr val="2F5597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838200" y="1190842"/>
            <a:ext cx="10515600" cy="19892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5400" dirty="0"/>
              <a:t>研海寻踪：多智能体科研知识图谱平台</a:t>
            </a:r>
            <a:endParaRPr lang="zh-CN" altLang="en-US" sz="5400" dirty="0"/>
          </a:p>
        </p:txBody>
      </p:sp>
      <p:pic>
        <p:nvPicPr>
          <p:cNvPr id="9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ath 8"/>
          <p:cNvSpPr/>
          <p:nvPr/>
        </p:nvSpPr>
        <p:spPr>
          <a:xfrm>
            <a:off x="0" y="4847844"/>
            <a:ext cx="12192000" cy="74676"/>
          </a:xfrm>
          <a:custGeom>
            <a:avLst/>
            <a:gdLst/>
            <a:ahLst/>
            <a:cxnLst/>
            <a:rect l="0" t="0" r="0" b="0"/>
            <a:pathLst>
              <a:path w="19200" h="117">
                <a:moveTo>
                  <a:pt x="0" y="117"/>
                </a:moveTo>
                <a:lnTo>
                  <a:pt x="19200" y="117"/>
                </a:lnTo>
                <a:lnTo>
                  <a:pt x="19200" y="0"/>
                </a:lnTo>
                <a:lnTo>
                  <a:pt x="0" y="0"/>
                </a:lnTo>
                <a:lnTo>
                  <a:pt x="0" y="117"/>
                </a:lnTo>
                <a:close/>
              </a:path>
            </a:pathLst>
          </a:custGeom>
          <a:solidFill>
            <a:srgbClr val="193B6E"/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" name="文本占位符 5"/>
          <p:cNvSpPr txBox="1"/>
          <p:nvPr/>
        </p:nvSpPr>
        <p:spPr>
          <a:xfrm>
            <a:off x="5118831" y="6045358"/>
            <a:ext cx="1954331" cy="396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F5597"/>
                </a:solidFill>
              </a:rPr>
              <a:t>2026</a:t>
            </a:r>
            <a:r>
              <a:rPr lang="zh-CN" altLang="en-US" sz="2400" dirty="0">
                <a:solidFill>
                  <a:srgbClr val="2F5597"/>
                </a:solidFill>
              </a:rPr>
              <a:t>年</a:t>
            </a:r>
            <a:r>
              <a:rPr lang="en-US" altLang="zh-CN" sz="2400" dirty="0">
                <a:solidFill>
                  <a:srgbClr val="2F5597"/>
                </a:solidFill>
              </a:rPr>
              <a:t>10</a:t>
            </a:r>
            <a:r>
              <a:rPr lang="zh-CN" altLang="en-US" sz="2400" dirty="0">
                <a:solidFill>
                  <a:srgbClr val="2F5597"/>
                </a:solidFill>
              </a:rPr>
              <a:t>月</a:t>
            </a:r>
            <a:endParaRPr lang="en-US" altLang="zh-CN" sz="2400" dirty="0">
              <a:solidFill>
                <a:srgbClr val="2F5597"/>
              </a:solidFill>
            </a:endParaRPr>
          </a:p>
        </p:txBody>
      </p:sp>
      <p:sp>
        <p:nvSpPr>
          <p:cNvPr id="2" name="textbox 6"/>
          <p:cNvSpPr/>
          <p:nvPr/>
        </p:nvSpPr>
        <p:spPr>
          <a:xfrm>
            <a:off x="196215" y="332740"/>
            <a:ext cx="7230110" cy="431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sz="2000" b="1">
                <a:solidFill>
                  <a:srgbClr val="2A527B"/>
                </a:solidFill>
                <a:latin typeface="微软雅黑" panose="020B0503020204020204" pitchFamily="34" charset="-122"/>
                <a:ea typeface="微软雅黑 Light" panose="020B0502040204020203" charset="-122"/>
                <a:cs typeface="+mn-ea"/>
                <a:sym typeface="+mn-ea"/>
              </a:rPr>
              <a:t>2026年第八届全球校园人工智能算法精英大赛 · 算法创新赛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6690" y="-537845"/>
            <a:ext cx="3856990" cy="370459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797138" y="1340679"/>
            <a:ext cx="3856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93B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研究背景与设计目标</a:t>
            </a:r>
            <a:endParaRPr lang="zh-CN" altLang="en-US" sz="32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225350" y="1314450"/>
            <a:ext cx="5515896" cy="4360003"/>
            <a:chOff x="5225350" y="1314450"/>
            <a:chExt cx="5515896" cy="4360003"/>
          </a:xfrm>
        </p:grpSpPr>
        <p:grpSp>
          <p:nvGrpSpPr>
            <p:cNvPr id="10" name="组合 9"/>
            <p:cNvGrpSpPr/>
            <p:nvPr/>
          </p:nvGrpSpPr>
          <p:grpSpPr>
            <a:xfrm>
              <a:off x="5225350" y="1314450"/>
              <a:ext cx="5515896" cy="639760"/>
              <a:chOff x="4611330" y="1493841"/>
              <a:chExt cx="5515896" cy="639760"/>
            </a:xfrm>
          </p:grpSpPr>
          <p:sp>
            <p:nvSpPr>
              <p:cNvPr id="3" name="矩形 2"/>
              <p:cNvSpPr/>
              <p:nvPr>
                <p:custDataLst>
                  <p:tags r:id="rId4"/>
                </p:custDataLst>
              </p:nvPr>
            </p:nvSpPr>
            <p:spPr>
              <a:xfrm>
                <a:off x="6096000" y="1493841"/>
                <a:ext cx="4031226" cy="639760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矩形 11"/>
              <p:cNvSpPr/>
              <p:nvPr>
                <p:custDataLst>
                  <p:tags r:id="rId5"/>
                </p:custDataLst>
              </p:nvPr>
            </p:nvSpPr>
            <p:spPr>
              <a:xfrm>
                <a:off x="4611330" y="1493841"/>
                <a:ext cx="1484670" cy="639760"/>
              </a:xfrm>
              <a:prstGeom prst="rect">
                <a:avLst/>
              </a:prstGeom>
              <a:solidFill>
                <a:srgbClr val="193B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kumimoji="0" lang="zh-CN" altLang="en-US" sz="36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225350" y="2245332"/>
              <a:ext cx="5515896" cy="639760"/>
              <a:chOff x="4611330" y="1493841"/>
              <a:chExt cx="5515896" cy="639760"/>
            </a:xfrm>
          </p:grpSpPr>
          <p:sp>
            <p:nvSpPr>
              <p:cNvPr id="15" name="矩形 14"/>
              <p:cNvSpPr/>
              <p:nvPr>
                <p:custDataLst>
                  <p:tags r:id="rId6"/>
                </p:custDataLst>
              </p:nvPr>
            </p:nvSpPr>
            <p:spPr>
              <a:xfrm>
                <a:off x="6096000" y="1493841"/>
                <a:ext cx="4031226" cy="639760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7"/>
                </p:custDataLst>
              </p:nvPr>
            </p:nvSpPr>
            <p:spPr>
              <a:xfrm>
                <a:off x="4611330" y="1493841"/>
                <a:ext cx="1484670" cy="639760"/>
              </a:xfrm>
              <a:prstGeom prst="rect">
                <a:avLst/>
              </a:prstGeom>
              <a:solidFill>
                <a:srgbClr val="193B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kumimoji="0" lang="zh-CN" altLang="en-US" sz="36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5225350" y="3176214"/>
              <a:ext cx="5515896" cy="639760"/>
              <a:chOff x="4611330" y="1493841"/>
              <a:chExt cx="5515896" cy="639760"/>
            </a:xfrm>
          </p:grpSpPr>
          <p:sp>
            <p:nvSpPr>
              <p:cNvPr id="19" name="矩形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6096000" y="1493841"/>
                <a:ext cx="4031226" cy="639760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9"/>
                </p:custDataLst>
              </p:nvPr>
            </p:nvSpPr>
            <p:spPr>
              <a:xfrm>
                <a:off x="4611330" y="1493841"/>
                <a:ext cx="1484670" cy="639760"/>
              </a:xfrm>
              <a:prstGeom prst="rect">
                <a:avLst/>
              </a:prstGeom>
              <a:solidFill>
                <a:srgbClr val="193B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kumimoji="0" lang="zh-CN" altLang="en-US" sz="36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5225350" y="4107096"/>
              <a:ext cx="5515896" cy="639760"/>
              <a:chOff x="4611330" y="1493841"/>
              <a:chExt cx="5515896" cy="639760"/>
            </a:xfrm>
          </p:grpSpPr>
          <p:sp>
            <p:nvSpPr>
              <p:cNvPr id="23" name="矩形 22"/>
              <p:cNvSpPr/>
              <p:nvPr>
                <p:custDataLst>
                  <p:tags r:id="rId10"/>
                </p:custDataLst>
              </p:nvPr>
            </p:nvSpPr>
            <p:spPr>
              <a:xfrm>
                <a:off x="6096000" y="1493841"/>
                <a:ext cx="4031226" cy="639760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矩形 23"/>
              <p:cNvSpPr/>
              <p:nvPr>
                <p:custDataLst>
                  <p:tags r:id="rId11"/>
                </p:custDataLst>
              </p:nvPr>
            </p:nvSpPr>
            <p:spPr>
              <a:xfrm>
                <a:off x="4611330" y="1493841"/>
                <a:ext cx="1484670" cy="639760"/>
              </a:xfrm>
              <a:prstGeom prst="rect">
                <a:avLst/>
              </a:prstGeom>
              <a:solidFill>
                <a:srgbClr val="193B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kumimoji="0" lang="zh-CN" altLang="en-US" sz="36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5225350" y="5034693"/>
              <a:ext cx="5515896" cy="639760"/>
              <a:chOff x="4611330" y="1493841"/>
              <a:chExt cx="5515896" cy="639760"/>
            </a:xfrm>
          </p:grpSpPr>
          <p:sp>
            <p:nvSpPr>
              <p:cNvPr id="26" name="矩形 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6096000" y="1493841"/>
                <a:ext cx="4031226" cy="639760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13"/>
                </p:custDataLst>
              </p:nvPr>
            </p:nvSpPr>
            <p:spPr>
              <a:xfrm>
                <a:off x="4611330" y="1493841"/>
                <a:ext cx="1484670" cy="639760"/>
              </a:xfrm>
              <a:prstGeom prst="rect">
                <a:avLst/>
              </a:prstGeom>
              <a:solidFill>
                <a:srgbClr val="193B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kumimoji="0" lang="zh-CN" altLang="en-US" sz="36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4" name="图片 2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>
            <p:custDataLst>
              <p:tags r:id="rId15"/>
            </p:custDataLst>
          </p:nvPr>
        </p:nvSpPr>
        <p:spPr>
          <a:xfrm>
            <a:off x="6797138" y="2277196"/>
            <a:ext cx="3856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193B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系统设计与实现过程</a:t>
            </a:r>
            <a:endParaRPr lang="zh-CN" altLang="en-US" sz="32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6"/>
            </p:custDataLst>
          </p:nvPr>
        </p:nvSpPr>
        <p:spPr>
          <a:xfrm>
            <a:off x="6797138" y="3203706"/>
            <a:ext cx="38569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193B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成果展示与功能特色</a:t>
            </a:r>
            <a:endParaRPr lang="zh-CN" altLang="en-US" sz="32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7"/>
            </p:custDataLst>
          </p:nvPr>
        </p:nvSpPr>
        <p:spPr>
          <a:xfrm>
            <a:off x="6797138" y="4135035"/>
            <a:ext cx="38569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93B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开发难点与解决方案</a:t>
            </a:r>
            <a:endParaRPr lang="zh-CN" altLang="en-US" sz="32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endParaRPr lang="zh-CN" altLang="en-US" sz="32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8"/>
            </p:custDataLst>
          </p:nvPr>
        </p:nvSpPr>
        <p:spPr>
          <a:xfrm>
            <a:off x="6797138" y="5062185"/>
            <a:ext cx="38569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93B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32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endParaRPr lang="zh-CN" altLang="en-US" sz="32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 descr="图示, 工程绘图&#10;&#10;AI 生成的内容可能不正确。"/>
          <p:cNvPicPr>
            <a:picLocks noChangeAspect="1"/>
          </p:cNvPicPr>
          <p:nvPr/>
        </p:nvPicPr>
        <p:blipFill>
          <a:blip r:embed="rId1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32"/>
          <a:stretch>
            <a:fillRect/>
          </a:stretch>
        </p:blipFill>
        <p:spPr>
          <a:xfrm>
            <a:off x="-60547" y="4746856"/>
            <a:ext cx="4065418" cy="2111144"/>
          </a:xfrm>
          <a:prstGeom prst="rect">
            <a:avLst/>
          </a:prstGeom>
        </p:spPr>
      </p:pic>
      <p:pic>
        <p:nvPicPr>
          <p:cNvPr id="52" name="图片 51" descr="卡通人物&#10;&#10;AI 生成的内容可能不正确。"/>
          <p:cNvPicPr>
            <a:picLocks noChangeAspect="1"/>
          </p:cNvPicPr>
          <p:nvPr/>
        </p:nvPicPr>
        <p:blipFill>
          <a:blip r:embed="rId20" cstate="print">
            <a:alphaModFix am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32" y="1633066"/>
            <a:ext cx="1086706" cy="3905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0"/>
          <p:cNvSpPr txBox="1"/>
          <p:nvPr/>
        </p:nvSpPr>
        <p:spPr>
          <a:xfrm>
            <a:off x="2576354" y="2967335"/>
            <a:ext cx="703928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研究背景与</a:t>
            </a:r>
            <a:r>
              <a:rPr lang="zh-CN" altLang="en-US" sz="54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设计目标</a:t>
            </a:r>
            <a:endParaRPr lang="zh-CN" altLang="en-US" sz="54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sp>
        <p:nvSpPr>
          <p:cNvPr id="12" name="文本框 10"/>
          <p:cNvSpPr txBox="1"/>
          <p:nvPr/>
        </p:nvSpPr>
        <p:spPr>
          <a:xfrm>
            <a:off x="4812173" y="1296075"/>
            <a:ext cx="25676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96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01</a:t>
            </a:r>
            <a:endParaRPr lang="en-US" altLang="zh-CN" sz="96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pic>
        <p:nvPicPr>
          <p:cNvPr id="1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37" y="3289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目录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02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914400" y="13716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FEDA5B"/>
                </a:solidFill>
                <a:latin typeface="微软雅黑" panose="020B0503020204020204" pitchFamily="34" charset="-122"/>
              </a:rPr>
              <a:t>01</a:t>
            </a:r>
            <a:endParaRPr sz="3200" b="1">
              <a:solidFill>
                <a:srgbClr val="FEDA5B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920240" y="1426464"/>
            <a:ext cx="8229600" cy="49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A3F6C"/>
                </a:solidFill>
                <a:latin typeface="+mj-ea"/>
                <a:ea typeface="+mj-ea"/>
              </a:rPr>
              <a:t>项目背景与设计目标</a:t>
            </a:r>
            <a:endParaRPr sz="2800" b="1">
              <a:solidFill>
                <a:srgbClr val="1A3F6C"/>
              </a:solidFill>
              <a:latin typeface="+mj-ea"/>
              <a:ea typeface="+mj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20240" y="2084832"/>
            <a:ext cx="9326880" cy="1097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914400" y="2231136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FEDA5B"/>
                </a:solidFill>
                <a:latin typeface="微软雅黑" panose="020B0503020204020204" pitchFamily="34" charset="-122"/>
              </a:rPr>
              <a:t>02</a:t>
            </a:r>
            <a:endParaRPr sz="3200" b="1">
              <a:solidFill>
                <a:srgbClr val="FEDA5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920240" y="2286000"/>
            <a:ext cx="8229600" cy="49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A3F6C"/>
                </a:solidFill>
                <a:latin typeface="+mj-ea"/>
                <a:ea typeface="+mj-ea"/>
              </a:rPr>
              <a:t>系统设计与实现过程</a:t>
            </a:r>
            <a:endParaRPr sz="2800" b="1">
              <a:solidFill>
                <a:srgbClr val="1A3F6C"/>
              </a:solidFill>
              <a:latin typeface="+mj-ea"/>
              <a:ea typeface="+mj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20240" y="2944368"/>
            <a:ext cx="9326880" cy="1097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914400" y="3090672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FEDA5B"/>
                </a:solidFill>
                <a:latin typeface="微软雅黑" panose="020B0503020204020204" pitchFamily="34" charset="-122"/>
              </a:rPr>
              <a:t>03</a:t>
            </a:r>
            <a:endParaRPr sz="3200" b="1">
              <a:solidFill>
                <a:srgbClr val="FEDA5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1920240" y="3145536"/>
            <a:ext cx="8229600" cy="49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A3F6C"/>
                </a:solidFill>
                <a:latin typeface="+mj-ea"/>
                <a:ea typeface="+mj-ea"/>
              </a:rPr>
              <a:t>成果展示与功能特色</a:t>
            </a:r>
            <a:endParaRPr sz="2800" b="1">
              <a:solidFill>
                <a:srgbClr val="1A3F6C"/>
              </a:solidFill>
              <a:latin typeface="+mj-ea"/>
              <a:ea typeface="+mj-ea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20240" y="3803904"/>
            <a:ext cx="9326880" cy="1097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914400" y="3950208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FEDA5B"/>
                </a:solidFill>
                <a:latin typeface="微软雅黑" panose="020B0503020204020204" pitchFamily="34" charset="-122"/>
              </a:rPr>
              <a:t>04</a:t>
            </a:r>
            <a:endParaRPr sz="3200" b="1">
              <a:solidFill>
                <a:srgbClr val="FEDA5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1920240" y="4005072"/>
            <a:ext cx="8229600" cy="49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A3F6C"/>
                </a:solidFill>
                <a:latin typeface="+mj-ea"/>
                <a:ea typeface="+mj-ea"/>
              </a:rPr>
              <a:t>开发难点与解决方案</a:t>
            </a:r>
            <a:endParaRPr sz="2800" b="1">
              <a:solidFill>
                <a:srgbClr val="1A3F6C"/>
              </a:solidFill>
              <a:latin typeface="+mj-ea"/>
              <a:ea typeface="+mj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20240" y="4663440"/>
            <a:ext cx="9326880" cy="1097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914400" y="4809744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FEDA5B"/>
                </a:solidFill>
                <a:latin typeface="微软雅黑" panose="020B0503020204020204" pitchFamily="34" charset="-122"/>
              </a:rPr>
              <a:t>05</a:t>
            </a:r>
            <a:endParaRPr sz="3200" b="1">
              <a:solidFill>
                <a:srgbClr val="FEDA5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1920240" y="4864607"/>
            <a:ext cx="8229600" cy="49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A3F6C"/>
                </a:solidFill>
                <a:latin typeface="+mj-ea"/>
                <a:ea typeface="+mj-ea"/>
              </a:rPr>
              <a:t>总结与展望</a:t>
            </a:r>
            <a:endParaRPr sz="2800" b="1">
              <a:solidFill>
                <a:srgbClr val="1A3F6C"/>
              </a:solidFill>
              <a:latin typeface="+mj-ea"/>
              <a:ea typeface="+mj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20240" y="5522976"/>
            <a:ext cx="9326880" cy="1097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0"/>
          <p:cNvSpPr txBox="1"/>
          <p:nvPr/>
        </p:nvSpPr>
        <p:spPr>
          <a:xfrm>
            <a:off x="2576354" y="2967335"/>
            <a:ext cx="703928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研究背景与</a:t>
            </a:r>
            <a:r>
              <a:rPr lang="zh-CN" altLang="en-US" sz="54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设计目标</a:t>
            </a:r>
            <a:endParaRPr lang="zh-CN" altLang="en-US" sz="54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sp>
        <p:nvSpPr>
          <p:cNvPr id="12" name="文本框 10"/>
          <p:cNvSpPr txBox="1"/>
          <p:nvPr/>
        </p:nvSpPr>
        <p:spPr>
          <a:xfrm>
            <a:off x="4812173" y="1296075"/>
            <a:ext cx="25676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96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01</a:t>
            </a:r>
            <a:endParaRPr lang="en-US" altLang="zh-CN" sz="96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pic>
        <p:nvPicPr>
          <p:cNvPr id="1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37" y="3289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一篇论文，核对比读完更贵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04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822960" y="1234440"/>
            <a:ext cx="10515600" cy="370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A3F6C"/>
                </a:solidFill>
                <a:latin typeface="+mj-ea"/>
                <a:ea typeface="+mj-ea"/>
              </a:rPr>
              <a:t>论文在涨，核对的成本没跟着降</a:t>
            </a:r>
            <a:endParaRPr sz="2100" b="1">
              <a:solidFill>
                <a:srgbClr val="1A3F6C"/>
              </a:solidFill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078992" y="1655064"/>
            <a:ext cx="10259568" cy="300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5A6470"/>
                </a:solidFill>
                <a:latin typeface="微软雅黑" panose="020B0503020204020204" pitchFamily="34" charset="-122"/>
              </a:rPr>
              <a:t>研究者真正花时间的地方，是回头确认“这句话出自哪一段”。</a:t>
            </a:r>
            <a:endParaRPr sz="1700" b="1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822960" y="2112264"/>
            <a:ext cx="10515600" cy="1097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22960" y="2167128"/>
            <a:ext cx="10515600" cy="370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A3F6C"/>
                </a:solidFill>
                <a:latin typeface="+mj-ea"/>
                <a:ea typeface="+mj-ea"/>
              </a:rPr>
              <a:t>通用大模型给结论，但不给出处</a:t>
            </a:r>
            <a:endParaRPr sz="2100" b="1">
              <a:solidFill>
                <a:srgbClr val="1A3F6C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078992" y="2587752"/>
            <a:ext cx="10259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A6470"/>
                </a:solidFill>
                <a:latin typeface="微软雅黑" panose="020B0503020204020204" pitchFamily="34" charset="-122"/>
              </a:rPr>
              <a:t>同一问题问两次答案可能不同，也无法说明哪条依据被推翻过。</a:t>
            </a:r>
            <a:endParaRPr sz="17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822960" y="3044952"/>
            <a:ext cx="10515600" cy="1097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822960" y="3099816"/>
            <a:ext cx="10515600" cy="370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A3F6C"/>
                </a:solidFill>
                <a:latin typeface="+mj-ea"/>
                <a:ea typeface="+mj-ea"/>
              </a:rPr>
              <a:t>现有工具各有缺口</a:t>
            </a:r>
            <a:endParaRPr sz="2100" b="1">
              <a:solidFill>
                <a:srgbClr val="1A3F6C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1078992" y="3520440"/>
            <a:ext cx="10259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A6470"/>
                </a:solidFill>
                <a:latin typeface="微软雅黑" panose="020B0503020204020204" pitchFamily="34" charset="-122"/>
              </a:rPr>
              <a:t>文献管理器不会抽关系，问答产品回不到字符位置，图谱工具依赖人工模板。</a:t>
            </a:r>
            <a:endParaRPr sz="17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" y="3977640"/>
            <a:ext cx="10515600" cy="1097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959985"/>
            <a:ext cx="10424160" cy="707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0000"/>
                </a:solidFill>
                <a:latin typeface="+mn-ea"/>
              </a:rPr>
              <a:t>我们要解决的只有一</a:t>
            </a:r>
            <a:r>
              <a:rPr lang="zh-CN" sz="2000" b="1">
                <a:solidFill>
                  <a:srgbClr val="FF0000"/>
                </a:solidFill>
                <a:latin typeface="+mn-ea"/>
              </a:rPr>
              <a:t>个目标</a:t>
            </a:r>
            <a:r>
              <a:rPr sz="2000" b="1">
                <a:solidFill>
                  <a:srgbClr val="FF0000"/>
                </a:solidFill>
                <a:latin typeface="+mn-ea"/>
              </a:rPr>
              <a:t>：让每条关系都能逐字切回原文</a:t>
            </a:r>
            <a:r>
              <a:rPr lang="zh-CN" sz="2000" b="1">
                <a:solidFill>
                  <a:srgbClr val="FF0000"/>
                </a:solidFill>
                <a:latin typeface="+mn-ea"/>
              </a:rPr>
              <a:t>。以此来确保用户能够在多智能体系统判断的辅助下，完成个性化知识图谱的构建</a:t>
            </a:r>
            <a:endParaRPr lang="zh-CN" sz="2000" b="1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现有工具的位置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05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28016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工具类型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1A3F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能做什么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1A3F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缺什么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1A3F6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文献管理器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收藏、题录、批注、PDF 阅读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不抽关系，也不判证据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文献问答产品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给一段摘要式回答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答案回不到字符位置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通用大模型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生成综述式结论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无字符级出处，结果不稳定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图谱构建工具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按模板抽实体与关系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判定依赖模型，口径不可复现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研海寻踪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抽取 + 分工裁决 + 证据跨度 + 八页工作区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F6C"/>
                          </a:solidFill>
                          <a:latin typeface="微软雅黑" panose="020B0503020204020204" pitchFamily="34" charset="-122"/>
                        </a:rPr>
                        <a:t>语料规模与人工标注仍在推进</a:t>
                      </a:r>
                      <a:endParaRPr sz="1500" b="1">
                        <a:solidFill>
                          <a:srgbClr val="1A3F6C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A527B"/>
                </a:solidFill>
                <a:latin typeface="微软雅黑" panose="020B0503020204020204" pitchFamily="34" charset="-122"/>
              </a:rPr>
              <a:t>我们不与“更强的模型”比生成质量，比的是“结论能不能被核对”。</a:t>
            </a:r>
            <a:endParaRPr sz="1900" b="1">
              <a:solidFill>
                <a:srgbClr val="2A527B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0"/>
          <p:cNvSpPr txBox="1"/>
          <p:nvPr/>
        </p:nvSpPr>
        <p:spPr>
          <a:xfrm>
            <a:off x="2576354" y="2967335"/>
            <a:ext cx="7039283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ln>
                  <a:noFill/>
                </a:ln>
                <a:solidFill>
                  <a:srgbClr val="1A3F6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  <a:sym typeface="+mn-ea"/>
              </a:rPr>
              <a:t>系统设计与实现过程</a:t>
            </a:r>
            <a:endParaRPr sz="5400" b="1">
              <a:solidFill>
                <a:srgbClr val="1A3F6C"/>
              </a:solidFill>
              <a:latin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sp>
        <p:nvSpPr>
          <p:cNvPr id="12" name="文本框 10"/>
          <p:cNvSpPr txBox="1"/>
          <p:nvPr/>
        </p:nvSpPr>
        <p:spPr>
          <a:xfrm>
            <a:off x="4812173" y="1296075"/>
            <a:ext cx="25676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>
                  <a:noFill/>
                </a:ln>
                <a:solidFill>
                  <a:srgbClr val="1A3F6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02</a:t>
            </a:r>
            <a:endParaRPr kumimoji="0" lang="en-US" altLang="zh-CN" sz="9600" b="1" i="0" u="none" strike="noStrike" kern="1200" cap="none" spc="0" normalizeH="0" baseline="0" noProof="0" dirty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pic>
        <p:nvPicPr>
          <p:cNvPr id="1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37" y="3289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五层结构：上层不能越级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08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" name="Picture 5" descr="fig01_架构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F6F8FB">
                  <a:alpha val="100000"/>
                </a:srgbClr>
              </a:clrFrom>
              <a:clrTo>
                <a:srgbClr val="F6F8FB">
                  <a:alpha val="100000"/>
                  <a:alpha val="0"/>
                </a:srgbClr>
              </a:clrTo>
            </a:clrChange>
          </a:blip>
          <a:srcRect l="3848" t="13002" r="4015" b="5543"/>
          <a:stretch>
            <a:fillRect/>
          </a:stretch>
        </p:blipFill>
        <p:spPr>
          <a:xfrm>
            <a:off x="1830070" y="1199515"/>
            <a:ext cx="8964295" cy="4458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从一份全文到图谱里的一条边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09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" name="Picture 5" descr="fig02_数据流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F6F8FB">
                  <a:alpha val="100000"/>
                </a:srgbClr>
              </a:clrFrom>
              <a:clrTo>
                <a:srgbClr val="F6F8FB">
                  <a:alpha val="100000"/>
                  <a:alpha val="0"/>
                </a:srgbClr>
              </a:clrTo>
            </a:clrChange>
          </a:blip>
          <a:srcRect t="9401"/>
          <a:stretch>
            <a:fillRect/>
          </a:stretch>
        </p:blipFill>
        <p:spPr>
          <a:xfrm>
            <a:off x="1247775" y="1177290"/>
            <a:ext cx="9976485" cy="508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三道分工与确定性裁判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10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" name="Picture 5" descr="fig03_三道分工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F6F8FB">
                  <a:alpha val="100000"/>
                </a:srgbClr>
              </a:clrFrom>
              <a:clrTo>
                <a:srgbClr val="F6F8FB">
                  <a:alpha val="100000"/>
                  <a:alpha val="0"/>
                </a:srgbClr>
              </a:clrTo>
            </a:clrChange>
          </a:blip>
          <a:srcRect t="13452"/>
          <a:stretch>
            <a:fillRect/>
          </a:stretch>
        </p:blipFill>
        <p:spPr>
          <a:xfrm>
            <a:off x="763905" y="1005840"/>
            <a:ext cx="11177905" cy="544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证据对象：坐标而不是字符串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11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5029200" cy="2651760"/>
          </a:xfrm>
          <a:prstGeom prst="roundRect">
            <a:avLst>
              <a:gd name="adj" fmla="val 6000"/>
            </a:avLst>
          </a:prstGeom>
          <a:solidFill>
            <a:srgbClr val="1A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15568" y="1517904"/>
            <a:ext cx="4443984" cy="1731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+mj-ea"/>
                <a:ea typeface="+mj-ea"/>
              </a:rPr>
              <a:t>一条证据里存了什么</a:t>
            </a:r>
            <a:endParaRPr sz="2300" b="1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+mj-ea"/>
                <a:ea typeface="+mj-ea"/>
              </a:rPr>
              <a:t>论文编号、段落编号、页码</a:t>
            </a:r>
            <a:endParaRPr sz="1700" b="1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+mj-ea"/>
                <a:ea typeface="+mj-ea"/>
              </a:rPr>
              <a:t>字符起止位置与切分时的文本指纹</a:t>
            </a:r>
            <a:endParaRPr sz="1700" b="1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+mj-ea"/>
                <a:ea typeface="+mj-ea"/>
              </a:rPr>
              <a:t>渲染时按坐标从原文切片</a:t>
            </a:r>
            <a:endParaRPr sz="1700" b="1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2651760"/>
          </a:xfrm>
          <a:prstGeom prst="roundRect">
            <a:avLst>
              <a:gd name="adj" fmla="val 6000"/>
            </a:avLst>
          </a:prstGeom>
          <a:solidFill>
            <a:srgbClr val="2A5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0528" y="1517904"/>
            <a:ext cx="4535424" cy="1628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由此得到的两条硬规则</a:t>
            </a:r>
            <a:endParaRPr sz="23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原文没保存，就问不出上下文——界面明确显示“取不到”</a:t>
            </a:r>
            <a:endParaRPr sz="17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绝不拿相邻片段拼一段像原文的话冒充原文</a:t>
            </a:r>
            <a:endParaRPr sz="17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515600" cy="1359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C00000"/>
                </a:solidFill>
                <a:latin typeface="微软雅黑" panose="020B0503020204020204" pitchFamily="34" charset="-122"/>
              </a:rPr>
              <a:t>四条可验证的接收条件</a:t>
            </a:r>
            <a:endParaRPr sz="2000" b="1">
              <a:solidFill>
                <a:srgbClr val="C00000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1">
                <a:solidFill>
                  <a:srgbClr val="1A3F6C"/>
                </a:solidFill>
                <a:latin typeface="微软雅黑" panose="020B0503020204020204" pitchFamily="34" charset="-122"/>
              </a:rPr>
              <a:t>证据有效　|　实体定位唯一　|　类型与方向合规　|　两个实体之间存在谓词</a:t>
            </a:r>
            <a:endParaRPr sz="1900" b="1">
              <a:solidFill>
                <a:srgbClr val="1A3F6C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5A6470"/>
                </a:solidFill>
                <a:latin typeface="微软雅黑" panose="020B0503020204020204" pitchFamily="34" charset="-122"/>
              </a:rPr>
              <a:t>四条全过才算接收，证据无效直接驳</a:t>
            </a:r>
            <a:r>
              <a:rPr lang="zh-CN" sz="1700" b="1">
                <a:solidFill>
                  <a:srgbClr val="5A6470"/>
                </a:solidFill>
                <a:latin typeface="微软雅黑" panose="020B0503020204020204" pitchFamily="34" charset="-122"/>
              </a:rPr>
              <a:t>回</a:t>
            </a:r>
            <a:r>
              <a:rPr sz="1700" b="1">
                <a:solidFill>
                  <a:srgbClr val="5A6470"/>
                </a:solidFill>
                <a:latin typeface="微软雅黑" panose="020B0503020204020204" pitchFamily="34" charset="-122"/>
              </a:rPr>
              <a:t>，其余待人</a:t>
            </a:r>
            <a:r>
              <a:rPr lang="zh-CN" sz="1700" b="1">
                <a:solidFill>
                  <a:srgbClr val="5A6470"/>
                </a:solidFill>
                <a:latin typeface="微软雅黑" panose="020B0503020204020204" pitchFamily="34" charset="-122"/>
              </a:rPr>
              <a:t>工</a:t>
            </a:r>
            <a:r>
              <a:rPr sz="1700" b="1">
                <a:solidFill>
                  <a:srgbClr val="5A6470"/>
                </a:solidFill>
                <a:latin typeface="微软雅黑" panose="020B0503020204020204" pitchFamily="34" charset="-122"/>
              </a:rPr>
              <a:t>判定。</a:t>
            </a:r>
            <a:endParaRPr sz="1700" b="1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全文知识库：只读接入与实测规模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52560" y="2560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A6470"/>
                </a:solidFill>
                <a:latin typeface="微软雅黑" panose="020B0503020204020204" pitchFamily="34" charset="-122"/>
              </a:rPr>
              <a:t>系统设计与实现过程</a:t>
            </a:r>
            <a:endParaRPr sz="14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12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" name="Picture 5" descr="fig04_库规模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8440"/>
            <a:ext cx="7040880" cy="39604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234440"/>
            <a:ext cx="3931920" cy="3931920"/>
          </a:xfrm>
          <a:prstGeom prst="roundRect">
            <a:avLst>
              <a:gd name="adj" fmla="val 6000"/>
            </a:avLst>
          </a:prstGeom>
          <a:solidFill>
            <a:srgbClr val="1A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90688" y="1472184"/>
            <a:ext cx="3346703" cy="1948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+mj-ea"/>
                <a:ea typeface="+mj-ea"/>
              </a:rPr>
              <a:t>为什么只读</a:t>
            </a:r>
            <a:endParaRPr sz="2000" b="1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+mj-ea"/>
                <a:ea typeface="+mj-ea"/>
              </a:rPr>
              <a:t>课题证据默认只来自自己导入的论文</a:t>
            </a:r>
            <a:endParaRPr sz="1500" b="0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+mj-ea"/>
                <a:ea typeface="+mj-ea"/>
              </a:rPr>
              <a:t>知识库用于离线复现与批量评测</a:t>
            </a:r>
            <a:endParaRPr sz="1500" b="0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+mj-ea"/>
                <a:ea typeface="+mj-ea"/>
              </a:rPr>
              <a:t>界面不写库、不改库</a:t>
            </a:r>
            <a:endParaRPr sz="1500" b="0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+mj-ea"/>
                <a:ea typeface="+mj-ea"/>
              </a:rPr>
              <a:t>每个数字都能一条命令复算</a:t>
            </a:r>
            <a:endParaRPr sz="1500" b="0">
              <a:solidFill>
                <a:srgbClr val="FFFFFF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0"/>
          <p:cNvSpPr txBox="1"/>
          <p:nvPr/>
        </p:nvSpPr>
        <p:spPr>
          <a:xfrm>
            <a:off x="2576354" y="2967335"/>
            <a:ext cx="703928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54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成果展示与功能特色</a:t>
            </a:r>
            <a:endParaRPr lang="zh-CN" altLang="en-US" sz="54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sp>
        <p:nvSpPr>
          <p:cNvPr id="12" name="文本框 10"/>
          <p:cNvSpPr txBox="1"/>
          <p:nvPr/>
        </p:nvSpPr>
        <p:spPr>
          <a:xfrm>
            <a:off x="4812173" y="1296075"/>
            <a:ext cx="25676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96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03</a:t>
            </a:r>
            <a:endParaRPr lang="en-US" altLang="zh-CN" sz="96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pic>
        <p:nvPicPr>
          <p:cNvPr id="1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37" y="3289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八页工作区：一条动线走完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14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" name="Picture 5" descr="fig05_八页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F6F8FB">
                  <a:alpha val="100000"/>
                </a:srgbClr>
              </a:clrFrom>
              <a:clrTo>
                <a:srgbClr val="F6F8FB">
                  <a:alpha val="100000"/>
                  <a:alpha val="0"/>
                </a:srgbClr>
              </a:clrTo>
            </a:clrChange>
          </a:blip>
          <a:srcRect t="12428" b="14340"/>
          <a:stretch>
            <a:fillRect/>
          </a:stretch>
        </p:blipFill>
        <p:spPr>
          <a:xfrm>
            <a:off x="170815" y="1619885"/>
            <a:ext cx="8399145" cy="346011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rcRect t="4110" b="-39"/>
          <a:stretch>
            <a:fillRect/>
          </a:stretch>
        </p:blipFill>
        <p:spPr>
          <a:xfrm>
            <a:off x="9105900" y="1001395"/>
            <a:ext cx="2593975" cy="5226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lang="zh-CN" sz="3200" b="1">
                <a:solidFill>
                  <a:srgbClr val="1A3F6C"/>
                </a:solidFill>
                <a:latin typeface="微软雅黑" panose="020B0503020204020204" pitchFamily="34" charset="-122"/>
              </a:rPr>
              <a:t>核心</a:t>
            </a:r>
            <a:r>
              <a:rPr lang="zh-CN" sz="3200" b="1">
                <a:solidFill>
                  <a:srgbClr val="1A3F6C"/>
                </a:solidFill>
                <a:latin typeface="微软雅黑" panose="020B0503020204020204" pitchFamily="34" charset="-122"/>
              </a:rPr>
              <a:t>功能</a:t>
            </a:r>
            <a:endParaRPr lang="zh-CN"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52560" y="2560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A6470"/>
                </a:solidFill>
                <a:latin typeface="微软雅黑" panose="020B0503020204020204" pitchFamily="34" charset="-122"/>
              </a:rPr>
              <a:t>成果展示与功能特色</a:t>
            </a:r>
            <a:endParaRPr sz="14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16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337560" cy="3200400"/>
          </a:xfrm>
          <a:prstGeom prst="roundRect">
            <a:avLst>
              <a:gd name="adj" fmla="val 6000"/>
            </a:avLst>
          </a:prstGeom>
          <a:solidFill>
            <a:srgbClr val="1A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15568" y="1609344"/>
            <a:ext cx="2752344" cy="171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① 导入一篇开放全文</a:t>
            </a:r>
            <a:endParaRPr sz="22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抽出段落与证据跨度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自动生成候选关系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页面上给出机器状态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337560" cy="3200400"/>
          </a:xfrm>
          <a:prstGeom prst="roundRect">
            <a:avLst>
              <a:gd name="adj" fmla="val 6000"/>
            </a:avLst>
          </a:prstGeom>
          <a:solidFill>
            <a:srgbClr val="2A5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27448" y="1609344"/>
            <a:ext cx="2752344" cy="171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② 逐条审候选关系</a:t>
            </a:r>
            <a:endParaRPr sz="22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键盘 J/K/A/S/X 快</a:t>
            </a:r>
            <a:r>
              <a:rPr lang="zh-CN"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捷操作，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做错了能撤销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决定写进独立的表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37560" cy="3200400"/>
          </a:xfrm>
          <a:prstGeom prst="roundRect">
            <a:avLst>
              <a:gd name="adj" fmla="val 6000"/>
            </a:avLst>
          </a:prstGeom>
          <a:solidFill>
            <a:srgbClr val="1A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39328" y="1609344"/>
            <a:ext cx="2752344" cy="2134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③ 回原文核对一条结论</a:t>
            </a:r>
            <a:endParaRPr sz="22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证据中心按坐标切原文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取不到就显示取不到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导出带版本号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1">
                <a:solidFill>
                  <a:srgbClr val="2A527B"/>
                </a:solidFill>
                <a:latin typeface="微软雅黑" panose="020B0503020204020204" pitchFamily="34" charset="-122"/>
              </a:rPr>
              <a:t>演示用的知识库就是成品库：五个领域、58,801 条证据，不是临时造的几十条样例。</a:t>
            </a:r>
            <a:endParaRPr sz="1900" b="1">
              <a:solidFill>
                <a:srgbClr val="2A527B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5A6470"/>
                </a:solidFill>
                <a:latin typeface="微软雅黑" panose="020B0503020204020204" pitchFamily="34" charset="-122"/>
              </a:rPr>
              <a:t>断网也能演示：确定性规则 + 本机知识库，不依赖任何外部模型。</a:t>
            </a:r>
            <a:endParaRPr sz="17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0"/>
          <p:cNvSpPr txBox="1"/>
          <p:nvPr/>
        </p:nvSpPr>
        <p:spPr>
          <a:xfrm>
            <a:off x="2576354" y="2967335"/>
            <a:ext cx="703928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54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开发难点与解决方案</a:t>
            </a:r>
            <a:endParaRPr lang="zh-CN" altLang="en-US" sz="54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sp>
        <p:nvSpPr>
          <p:cNvPr id="12" name="文本框 10"/>
          <p:cNvSpPr txBox="1"/>
          <p:nvPr/>
        </p:nvSpPr>
        <p:spPr>
          <a:xfrm>
            <a:off x="4812173" y="1296075"/>
            <a:ext cx="256764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96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04</a:t>
            </a:r>
            <a:endParaRPr lang="en-US" altLang="zh-CN" sz="96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pic>
        <p:nvPicPr>
          <p:cNvPr id="1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37" y="3289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难点一：结论回不到原文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18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2963" y="1355344"/>
            <a:ext cx="5266944" cy="1217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A3F6C"/>
                </a:solidFill>
                <a:latin typeface="+mj-ea"/>
                <a:ea typeface="+mj-ea"/>
              </a:rPr>
              <a:t>难在哪</a:t>
            </a:r>
            <a:endParaRPr sz="2400" b="1">
              <a:solidFill>
                <a:srgbClr val="1A3F6C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5A6470"/>
                </a:solidFill>
                <a:latin typeface="+mj-ea"/>
                <a:ea typeface="+mj-ea"/>
              </a:rPr>
              <a:t>抽取器给出的是句子，不是坐标</a:t>
            </a:r>
            <a:r>
              <a:rPr lang="zh-CN" sz="1700" b="0">
                <a:solidFill>
                  <a:srgbClr val="5A6470"/>
                </a:solidFill>
                <a:latin typeface="+mj-ea"/>
                <a:ea typeface="+mj-ea"/>
              </a:rPr>
              <a:t>，</a:t>
            </a:r>
            <a:r>
              <a:rPr sz="1700" b="0">
                <a:solidFill>
                  <a:srgbClr val="5A6470"/>
                </a:solidFill>
                <a:latin typeface="+mj-ea"/>
                <a:ea typeface="+mj-ea"/>
              </a:rPr>
              <a:t>换一次解析器，偏移就对不上原文</a:t>
            </a:r>
            <a:r>
              <a:rPr lang="zh-CN" sz="1700" b="0">
                <a:solidFill>
                  <a:srgbClr val="5A6470"/>
                </a:solidFill>
                <a:latin typeface="+mj-ea"/>
                <a:ea typeface="+mj-ea"/>
              </a:rPr>
              <a:t>。</a:t>
            </a:r>
            <a:r>
              <a:rPr sz="1700" b="0">
                <a:solidFill>
                  <a:srgbClr val="5A6470"/>
                </a:solidFill>
                <a:latin typeface="+mj-ea"/>
                <a:ea typeface="+mj-ea"/>
              </a:rPr>
              <a:t>原文没授权保存时，根本无从回看</a:t>
            </a:r>
            <a:endParaRPr sz="1700" b="0">
              <a:solidFill>
                <a:srgbClr val="5A6470"/>
              </a:solidFill>
              <a:latin typeface="+mj-ea"/>
              <a:ea typeface="+mj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389120" cy="4206240"/>
          </a:xfrm>
          <a:prstGeom prst="roundRect">
            <a:avLst>
              <a:gd name="adj" fmla="val 6000"/>
            </a:avLst>
          </a:prstGeom>
          <a:solidFill>
            <a:srgbClr val="1A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42048" y="1517904"/>
            <a:ext cx="3803904" cy="2731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怎么解</a:t>
            </a:r>
            <a:endParaRPr sz="24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证据存坐标：页码 + 字符起止 + 文本指纹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换解析器就换一套坐标，并记下是哪一次解析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取不到原文就如实显示“取不到”，不拼凑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265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0000"/>
                </a:solidFill>
                <a:latin typeface="+mj-ea"/>
                <a:ea typeface="+mj-ea"/>
              </a:rPr>
              <a:t>代价：换解析器后逐字相同率会掉，我们宁可在界面上标出来，也不改坐标去凑。</a:t>
            </a:r>
            <a:endParaRPr sz="1500" b="1">
              <a:solidFill>
                <a:srgbClr val="C00000"/>
              </a:solidFill>
              <a:latin typeface="+mj-ea"/>
              <a:ea typeface="+mj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90" y="3003550"/>
            <a:ext cx="6481445" cy="2500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难点二：候选关系多</a:t>
            </a:r>
            <a:r>
              <a:rPr lang="zh-CN" sz="3200" b="1">
                <a:solidFill>
                  <a:srgbClr val="1A3F6C"/>
                </a:solidFill>
                <a:latin typeface="微软雅黑" panose="020B0503020204020204" pitchFamily="34" charset="-122"/>
              </a:rPr>
              <a:t>，人</a:t>
            </a:r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审不过来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19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2323" y="1280414"/>
            <a:ext cx="5266944" cy="1217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A3F6C"/>
                </a:solidFill>
                <a:latin typeface="+mj-ea"/>
                <a:ea typeface="+mj-ea"/>
              </a:rPr>
              <a:t>难在哪</a:t>
            </a:r>
            <a:endParaRPr sz="2400" b="1">
              <a:solidFill>
                <a:srgbClr val="1A3F6C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5A6470"/>
                </a:solidFill>
                <a:latin typeface="+mj-ea"/>
                <a:ea typeface="+mj-ea"/>
              </a:rPr>
              <a:t>整库接入一次就是上千条候选</a:t>
            </a:r>
            <a:r>
              <a:rPr lang="zh-CN" sz="1700" b="0">
                <a:solidFill>
                  <a:srgbClr val="5A6470"/>
                </a:solidFill>
                <a:latin typeface="+mj-ea"/>
                <a:ea typeface="+mj-ea"/>
              </a:rPr>
              <a:t>，</a:t>
            </a:r>
            <a:r>
              <a:rPr sz="1700" b="0">
                <a:solidFill>
                  <a:srgbClr val="5A6470"/>
                </a:solidFill>
                <a:latin typeface="+mj-ea"/>
                <a:ea typeface="+mj-ea"/>
              </a:rPr>
              <a:t>无上限渲染会把浏览器卡死</a:t>
            </a:r>
            <a:r>
              <a:rPr lang="zh-CN" sz="1700" b="0">
                <a:solidFill>
                  <a:srgbClr val="5A6470"/>
                </a:solidFill>
                <a:latin typeface="+mj-ea"/>
                <a:ea typeface="+mj-ea"/>
              </a:rPr>
              <a:t>，</a:t>
            </a:r>
            <a:r>
              <a:rPr sz="1700" b="0">
                <a:solidFill>
                  <a:srgbClr val="5A6470"/>
                </a:solidFill>
                <a:latin typeface="+mj-ea"/>
                <a:ea typeface="+mj-ea"/>
              </a:rPr>
              <a:t>人一旦看不到头，就会开始乱点</a:t>
            </a:r>
            <a:endParaRPr sz="1700" b="0">
              <a:solidFill>
                <a:srgbClr val="5A6470"/>
              </a:solidFill>
              <a:latin typeface="+mj-ea"/>
              <a:ea typeface="+mj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49440" y="1280160"/>
            <a:ext cx="4389120" cy="4206240"/>
          </a:xfrm>
          <a:prstGeom prst="roundRect">
            <a:avLst>
              <a:gd name="adj" fmla="val 6000"/>
            </a:avLst>
          </a:prstGeom>
          <a:solidFill>
            <a:srgbClr val="1A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42048" y="1517904"/>
            <a:ext cx="3803904" cy="2404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怎么解</a:t>
            </a:r>
            <a:endParaRPr sz="24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列表只渲染前 200 条，其余靠筛选与搜索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键盘 J/K/A/S/X 连续过队列，可撤销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按机器状态筛“待判定”，先把必须人看的挑出来</a:t>
            </a:r>
            <a:endParaRPr sz="1700" b="0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C00000"/>
                </a:solidFill>
                <a:latin typeface="微软雅黑" panose="020B0503020204020204" pitchFamily="34" charset="-122"/>
              </a:rPr>
              <a:t>结果：整库接入 100 篇 → 4,000 条候选，界面仍可用；人只处理排在前面那批。</a:t>
            </a:r>
            <a:endParaRPr sz="1500" b="0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90" y="2833370"/>
            <a:ext cx="6633210" cy="2501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0"/>
          <p:cNvSpPr txBox="1"/>
          <p:nvPr/>
        </p:nvSpPr>
        <p:spPr>
          <a:xfrm>
            <a:off x="2576354" y="2967335"/>
            <a:ext cx="703928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5400" b="1" dirty="0">
                <a:solidFill>
                  <a:srgbClr val="193B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</a:t>
            </a:r>
            <a:r>
              <a:rPr lang="zh-CN" altLang="en-US" sz="5400" b="1" dirty="0">
                <a:solidFill>
                  <a:srgbClr val="193B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</a:t>
            </a:r>
            <a:endParaRPr lang="zh-CN" altLang="en-US" sz="5400" b="1" dirty="0">
              <a:solidFill>
                <a:srgbClr val="193B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0"/>
          <p:cNvSpPr txBox="1"/>
          <p:nvPr/>
        </p:nvSpPr>
        <p:spPr>
          <a:xfrm>
            <a:off x="4812173" y="1296075"/>
            <a:ext cx="256764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96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05</a:t>
            </a:r>
            <a:endParaRPr lang="en-US" altLang="zh-CN" sz="96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pic>
        <p:nvPicPr>
          <p:cNvPr id="14" name="图片 2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37" y="3289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82296"/>
            <a:ext cx="7863840" cy="704088"/>
          </a:xfrm>
        </p:spPr>
        <p:txBody>
          <a:bodyPr lIns="0" tIns="0" bIns="0" anchor="ctr"/>
          <a:lstStyle/>
          <a:p>
            <a:pPr algn="l"/>
            <a:r>
              <a:rPr sz="3200" b="1">
                <a:solidFill>
                  <a:srgbClr val="1A3F6C"/>
                </a:solidFill>
                <a:latin typeface="微软雅黑" panose="020B0503020204020204" pitchFamily="34" charset="-122"/>
              </a:rPr>
              <a:t>应用前景与下一步</a:t>
            </a:r>
            <a:endParaRPr sz="3200" b="1">
              <a:solidFill>
                <a:srgbClr val="1A3F6C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52560" y="2560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A6470"/>
                </a:solidFill>
                <a:latin typeface="微软雅黑" panose="020B0503020204020204" pitchFamily="34" charset="-122"/>
              </a:rPr>
              <a:t>总结与展望</a:t>
            </a:r>
            <a:endParaRPr sz="14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744" y="841248"/>
            <a:ext cx="11704320" cy="27432"/>
          </a:xfrm>
          <a:prstGeom prst="rect">
            <a:avLst/>
          </a:prstGeom>
          <a:solidFill>
            <a:srgbClr val="FED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81360" y="6272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470"/>
                </a:solidFill>
                <a:latin typeface="微软雅黑" panose="020B0503020204020204" pitchFamily="34" charset="-122"/>
              </a:rPr>
              <a:t>23</a:t>
            </a:r>
            <a:endParaRPr sz="1200" b="0">
              <a:solidFill>
                <a:srgbClr val="5A64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1A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15568" y="1563624"/>
            <a:ext cx="2752344" cy="198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+mj-ea"/>
                <a:ea typeface="+mj-ea"/>
              </a:rPr>
              <a:t>谁来用</a:t>
            </a:r>
            <a:endParaRPr sz="2300" b="1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+mj-ea"/>
                <a:ea typeface="+mj-ea"/>
              </a:rPr>
              <a:t>课题组与研究生：文献综述、开题调研</a:t>
            </a:r>
            <a:r>
              <a:rPr lang="zh-CN" sz="1600">
                <a:solidFill>
                  <a:srgbClr val="FFFFFF"/>
                </a:solidFill>
                <a:latin typeface="+mj-ea"/>
                <a:ea typeface="+mj-ea"/>
              </a:rPr>
              <a:t>等科研情景</a:t>
            </a:r>
            <a:endParaRPr sz="1600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+mj-ea"/>
                <a:ea typeface="+mj-ea"/>
              </a:rPr>
              <a:t>图书馆与科研管理：学科情报</a:t>
            </a:r>
            <a:endParaRPr sz="1600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+mj-ea"/>
                <a:ea typeface="+mj-ea"/>
              </a:rPr>
              <a:t>企业技术情报：技术路线盘点</a:t>
            </a:r>
            <a:endParaRPr sz="16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2A52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27448" y="1563624"/>
            <a:ext cx="2752344" cy="198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怎么收费</a:t>
            </a:r>
            <a:endParaRPr sz="23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默认走</a:t>
            </a:r>
            <a:r>
              <a:rPr lang="en-US" sz="160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ds</a:t>
            </a:r>
            <a:r>
              <a:rPr lang="zh-CN" altLang="en-US" sz="160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免费</a:t>
            </a:r>
            <a:r>
              <a:rPr lang="en-US" altLang="zh-CN" sz="160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API</a:t>
            </a:r>
            <a:r>
              <a:rPr sz="160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，单次运行无调用费</a:t>
            </a:r>
            <a:endParaRPr sz="160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需要模型时用户自带 Key</a:t>
            </a:r>
            <a:endParaRPr sz="1600">
              <a:solidFill>
                <a:srgbClr val="FFFFFF"/>
              </a:solidFill>
              <a:latin typeface="+mj-ea"/>
              <a:ea typeface="+mj-ea"/>
              <a:cs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成本主要在语料采集与库重建</a:t>
            </a:r>
            <a:endParaRPr sz="1600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1A3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39328" y="1563624"/>
            <a:ext cx="2752344" cy="198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+mj-ea"/>
                <a:ea typeface="+mj-ea"/>
              </a:rPr>
              <a:t>下一步</a:t>
            </a:r>
            <a:endParaRPr sz="2300" b="1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+mj-ea"/>
                <a:ea typeface="+mj-ea"/>
              </a:rPr>
              <a:t>补齐语料与知识点签核</a:t>
            </a:r>
            <a:endParaRPr sz="1600" b="0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+mj-ea"/>
                <a:ea typeface="+mj-ea"/>
              </a:rPr>
              <a:t>与一个院系合作验证日常使用频次</a:t>
            </a:r>
            <a:endParaRPr sz="1600" b="0">
              <a:solidFill>
                <a:srgbClr val="FFFFFF"/>
              </a:solidFill>
              <a:latin typeface="+mj-ea"/>
              <a:ea typeface="+mj-ea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lang="zh-CN" sz="1600" b="0">
                <a:solidFill>
                  <a:srgbClr val="FFFFFF"/>
                </a:solidFill>
                <a:latin typeface="+mj-ea"/>
                <a:ea typeface="+mj-ea"/>
              </a:rPr>
              <a:t>宣发推广我们的</a:t>
            </a:r>
            <a:r>
              <a:rPr lang="zh-CN" sz="1600" b="0">
                <a:solidFill>
                  <a:srgbClr val="FFFFFF"/>
                </a:solidFill>
                <a:latin typeface="+mj-ea"/>
                <a:ea typeface="+mj-ea"/>
              </a:rPr>
              <a:t>产品</a:t>
            </a:r>
            <a:endParaRPr lang="zh-CN" sz="1600" b="0">
              <a:solidFill>
                <a:srgbClr val="FFFFFF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3962400" cy="6858000"/>
          </a:xfrm>
          <a:prstGeom prst="rect">
            <a:avLst/>
          </a:prstGeom>
          <a:solidFill>
            <a:srgbClr val="193B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08760" y="1352550"/>
            <a:ext cx="10744200" cy="43243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7" name="图片占位符 2"/>
          <p:cNvPicPr>
            <a:picLocks noChangeAspect="1"/>
          </p:cNvPicPr>
          <p:nvPr/>
        </p:nvPicPr>
        <p:blipFill>
          <a:blip r:embed="rId1" cstate="print">
            <a:alphaModFix amt="85000"/>
            <a:clrChange>
              <a:clrFrom>
                <a:srgbClr val="FAF9FF"/>
              </a:clrFrom>
              <a:clrTo>
                <a:srgbClr val="FAF9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7620001" y="3067748"/>
            <a:ext cx="4571999" cy="2571749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575950" y="2849692"/>
            <a:ext cx="5528660" cy="1256650"/>
          </a:xfrm>
          <a:prstGeom prst="rect">
            <a:avLst/>
          </a:prstGeom>
          <a:solidFill>
            <a:srgbClr val="193B6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itchFamily="18" charset="-122"/>
              <a:ea typeface="阿里巴巴普惠体 R" pitchFamily="18" charset="-122"/>
              <a:cs typeface="阿里巴巴普惠体 R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59036" y="2934685"/>
            <a:ext cx="5162488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研海寻踪：多智能体科研知识图谱平台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03630" y="1597534"/>
            <a:ext cx="7097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>
                <a:solidFill>
                  <a:srgbClr val="193B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恳请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193B6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itchFamily="18" charset="-122"/>
              </a:rPr>
              <a:t>各位专家批评指正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193B6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itchFamily="18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277600" y="5630758"/>
            <a:ext cx="457200" cy="1227242"/>
          </a:xfrm>
          <a:prstGeom prst="rect">
            <a:avLst/>
          </a:prstGeom>
          <a:solidFill>
            <a:srgbClr val="193B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任意多边形: 形状 2"/>
          <p:cNvSpPr/>
          <p:nvPr/>
        </p:nvSpPr>
        <p:spPr>
          <a:xfrm flipH="1">
            <a:off x="2636910" y="2070520"/>
            <a:ext cx="9115222" cy="1227241"/>
          </a:xfrm>
          <a:custGeom>
            <a:avLst/>
            <a:gdLst>
              <a:gd name="connsiteX0" fmla="*/ 0 w 7382577"/>
              <a:gd name="connsiteY0" fmla="*/ 1106905 h 2492943"/>
              <a:gd name="connsiteX1" fmla="*/ 1126156 w 7382577"/>
              <a:gd name="connsiteY1" fmla="*/ 1106905 h 2492943"/>
              <a:gd name="connsiteX2" fmla="*/ 1260909 w 7382577"/>
              <a:gd name="connsiteY2" fmla="*/ 1925053 h 2492943"/>
              <a:gd name="connsiteX3" fmla="*/ 1742172 w 7382577"/>
              <a:gd name="connsiteY3" fmla="*/ 0 h 2492943"/>
              <a:gd name="connsiteX4" fmla="*/ 2088682 w 7382577"/>
              <a:gd name="connsiteY4" fmla="*/ 2492943 h 2492943"/>
              <a:gd name="connsiteX5" fmla="*/ 2444817 w 7382577"/>
              <a:gd name="connsiteY5" fmla="*/ 1097280 h 2492943"/>
              <a:gd name="connsiteX6" fmla="*/ 7382577 w 7382577"/>
              <a:gd name="connsiteY6" fmla="*/ 1097280 h 249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2577" h="2492943">
                <a:moveTo>
                  <a:pt x="0" y="1106905"/>
                </a:moveTo>
                <a:lnTo>
                  <a:pt x="1126156" y="1106905"/>
                </a:lnTo>
                <a:lnTo>
                  <a:pt x="1260909" y="1925053"/>
                </a:lnTo>
                <a:lnTo>
                  <a:pt x="1742172" y="0"/>
                </a:lnTo>
                <a:lnTo>
                  <a:pt x="2088682" y="2492943"/>
                </a:lnTo>
                <a:lnTo>
                  <a:pt x="2444817" y="1097280"/>
                </a:lnTo>
                <a:lnTo>
                  <a:pt x="7382577" y="1097280"/>
                </a:lnTo>
              </a:path>
            </a:pathLst>
          </a:custGeom>
          <a:noFill/>
          <a:ln w="19050">
            <a:solidFill>
              <a:srgbClr val="2237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2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285" y="100330"/>
            <a:ext cx="2730500" cy="80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 descr="卡通人物&#10;&#10;AI 生成的内容可能不正确。"/>
          <p:cNvPicPr>
            <a:picLocks noChangeAspect="1"/>
          </p:cNvPicPr>
          <p:nvPr/>
        </p:nvPicPr>
        <p:blipFill>
          <a:blip r:embed="rId3" cstate="print">
            <a:alphaModFix am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74" y="744186"/>
            <a:ext cx="1086706" cy="3905261"/>
          </a:xfrm>
          <a:prstGeom prst="rect">
            <a:avLst/>
          </a:prstGeom>
        </p:spPr>
      </p:pic>
      <p:pic>
        <p:nvPicPr>
          <p:cNvPr id="11" name="图片 10" descr="图示, 工程绘图&#10;&#10;AI 生成的内容可能不正确。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32"/>
          <a:stretch>
            <a:fillRect/>
          </a:stretch>
        </p:blipFill>
        <p:spPr>
          <a:xfrm>
            <a:off x="0" y="4819886"/>
            <a:ext cx="3936882" cy="2044396"/>
          </a:xfrm>
          <a:prstGeom prst="rect">
            <a:avLst/>
          </a:prstGeom>
        </p:spPr>
      </p:pic>
      <p:sp>
        <p:nvSpPr>
          <p:cNvPr id="21" name="文本占位符 5"/>
          <p:cNvSpPr txBox="1"/>
          <p:nvPr/>
        </p:nvSpPr>
        <p:spPr>
          <a:xfrm>
            <a:off x="2636910" y="4185186"/>
            <a:ext cx="4058044" cy="1097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zh-CN" altLang="en-US" sz="28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负责人：卢冠宇  宋明浩</a:t>
            </a:r>
            <a:r>
              <a:rPr lang="en-US" altLang="zh-CN" sz="28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8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指导教师：朱</a:t>
            </a:r>
            <a:r>
              <a:rPr lang="zh-CN" altLang="en-US" sz="28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子青</a:t>
            </a:r>
            <a:endParaRPr lang="zh-CN" altLang="en-US" sz="2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占位符 5"/>
          <p:cNvSpPr txBox="1"/>
          <p:nvPr/>
        </p:nvSpPr>
        <p:spPr>
          <a:xfrm>
            <a:off x="5130867" y="5998630"/>
            <a:ext cx="1930266" cy="396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/>
              <a:t>2026</a:t>
            </a:r>
            <a:r>
              <a:rPr lang="zh-CN" altLang="en-US" sz="2400" dirty="0"/>
              <a:t>年</a:t>
            </a:r>
            <a:r>
              <a:rPr lang="en-US" altLang="zh-CN" sz="2400" dirty="0"/>
              <a:t>10</a:t>
            </a:r>
            <a:r>
              <a:rPr lang="zh-CN" altLang="en-US" sz="2400" dirty="0"/>
              <a:t>月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37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38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39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40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41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42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43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44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45.xml><?xml version="1.0" encoding="utf-8"?>
<p:tagLst xmlns:p="http://schemas.openxmlformats.org/presentationml/2006/main">
  <p:tag name="KSO_WM_DIAGRAM_VIRTUALLY_FRAME" val="{&quot;height&quot;:321.12,&quot;left&quot;:72,&quot;top&quot;:108,&quot;width&quot;:727.2}"/>
</p:tagLst>
</file>

<file path=ppt/tags/tag46.xml><?xml version="1.0" encoding="utf-8"?>
<p:tagLst xmlns:p="http://schemas.openxmlformats.org/presentationml/2006/main">
  <p:tag name="KSO_WM_DIAGRAM_VIRTUALLY_FRAME" val="{&quot;height&quot;:216,&quot;left&quot;:64.8,&quot;top&quot;:97.2,&quot;width&quot;:828}"/>
</p:tagLst>
</file>

<file path=ppt/tags/tag47.xml><?xml version="1.0" encoding="utf-8"?>
<p:tagLst xmlns:p="http://schemas.openxmlformats.org/presentationml/2006/main">
  <p:tag name="KSO_WM_DIAGRAM_VIRTUALLY_FRAME" val="{&quot;height&quot;:216,&quot;left&quot;:64.8,&quot;top&quot;:97.2,&quot;width&quot;:828}"/>
</p:tagLst>
</file>

<file path=ppt/tags/tag48.xml><?xml version="1.0" encoding="utf-8"?>
<p:tagLst xmlns:p="http://schemas.openxmlformats.org/presentationml/2006/main">
  <p:tag name="KSO_WM_DIAGRAM_VIRTUALLY_FRAME" val="{&quot;height&quot;:216,&quot;left&quot;:64.8,&quot;top&quot;:97.2,&quot;width&quot;:828}"/>
</p:tagLst>
</file>

<file path=ppt/tags/tag49.xml><?xml version="1.0" encoding="utf-8"?>
<p:tagLst xmlns:p="http://schemas.openxmlformats.org/presentationml/2006/main">
  <p:tag name="KSO_WM_DIAGRAM_VIRTUALLY_FRAME" val="{&quot;height&quot;:216,&quot;left&quot;:64.8,&quot;top&quot;:97.2,&quot;width&quot;:828}"/>
</p:tagLst>
</file>

<file path=ppt/tags/tag50.xml><?xml version="1.0" encoding="utf-8"?>
<p:tagLst xmlns:p="http://schemas.openxmlformats.org/presentationml/2006/main">
  <p:tag name="KSO_WM_DIAGRAM_VIRTUALLY_FRAME" val="{&quot;height&quot;:216,&quot;left&quot;:64.8,&quot;top&quot;:97.2,&quot;width&quot;:828}"/>
</p:tagLst>
</file>

<file path=ppt/tags/tag51.xml><?xml version="1.0" encoding="utf-8"?>
<p:tagLst xmlns:p="http://schemas.openxmlformats.org/presentationml/2006/main">
  <p:tag name="KSO_WM_DIAGRAM_VIRTUALLY_FRAME" val="{&quot;height&quot;:216,&quot;left&quot;:64.8,&quot;top&quot;:97.2,&quot;width&quot;:828}"/>
</p:tagLst>
</file>

<file path=ppt/tags/tag52.xml><?xml version="1.0" encoding="utf-8"?>
<p:tagLst xmlns:p="http://schemas.openxmlformats.org/presentationml/2006/main">
  <p:tag name="KSO_WM_DIAGRAM_VIRTUALLY_FRAME" val="{&quot;height&quot;:216,&quot;left&quot;:64.8,&quot;top&quot;:97.2,&quot;width&quot;:828}"/>
</p:tagLst>
</file>

<file path=ppt/tags/tag53.xml><?xml version="1.0" encoding="utf-8"?>
<p:tagLst xmlns:p="http://schemas.openxmlformats.org/presentationml/2006/main">
  <p:tag name="KSO_WM_DIAGRAM_VIRTUALLY_FRAME" val="{&quot;height&quot;:216,&quot;left&quot;:64.8,&quot;top&quot;:97.2,&quot;width&quot;:828}"/>
</p:tagLst>
</file>

<file path=ppt/theme/theme1.xml><?xml version="1.0" encoding="utf-8"?>
<a:theme xmlns:a="http://schemas.openxmlformats.org/drawingml/2006/main" name="自控说课(2)">
  <a:themeElements>
    <a:clrScheme name="深蓝质感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2834"/>
      </a:accent1>
      <a:accent2>
        <a:srgbClr val="FEDA5B"/>
      </a:accent2>
      <a:accent3>
        <a:srgbClr val="F5821F"/>
      </a:accent3>
      <a:accent4>
        <a:srgbClr val="BCBEC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1">
      <a:majorFont>
        <a:latin typeface="Arial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doc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控说课(2)">
  <a:themeElements>
    <a:clrScheme name="深蓝质感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2834"/>
      </a:accent1>
      <a:accent2>
        <a:srgbClr val="FEDA5B"/>
      </a:accent2>
      <a:accent3>
        <a:srgbClr val="F5821F"/>
      </a:accent3>
      <a:accent4>
        <a:srgbClr val="BCBEC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1">
      <a:majorFont>
        <a:latin typeface="Arial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自控说课(2)">
  <a:themeElements>
    <a:clrScheme name="深蓝质感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2834"/>
      </a:accent1>
      <a:accent2>
        <a:srgbClr val="FEDA5B"/>
      </a:accent2>
      <a:accent3>
        <a:srgbClr val="F5821F"/>
      </a:accent3>
      <a:accent4>
        <a:srgbClr val="BCBEC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1">
      <a:majorFont>
        <a:latin typeface="Arial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1704</Words>
  <Application>WPS 演示</Application>
  <PresentationFormat>宽屏</PresentationFormat>
  <Paragraphs>267</Paragraphs>
  <Slides>22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微软雅黑</vt:lpstr>
      <vt:lpstr>Calibri Light</vt:lpstr>
      <vt:lpstr>微软雅黑 Light</vt:lpstr>
      <vt:lpstr>Arial Unicode MS</vt:lpstr>
      <vt:lpstr>等线</vt:lpstr>
      <vt:lpstr>Calibri Light</vt:lpstr>
      <vt:lpstr>阿里巴巴普惠体 R</vt:lpstr>
      <vt:lpstr>Calibri</vt:lpstr>
      <vt:lpstr>等线 Light</vt:lpstr>
      <vt:lpstr>自控说课(2)</vt:lpstr>
      <vt:lpstr>Office 主题​​</vt:lpstr>
      <vt:lpstr>1_Office 主题​​</vt:lpstr>
      <vt:lpstr>docer</vt:lpstr>
      <vt:lpstr>1_自控说课(2)</vt:lpstr>
      <vt:lpstr>2_自控说课(2)</vt:lpstr>
      <vt:lpstr>研海寻踪：多智能体科研知识图谱平台</vt:lpstr>
      <vt:lpstr>PowerPoint 演示文稿</vt:lpstr>
      <vt:lpstr>PowerPoint 演示文稿</vt:lpstr>
      <vt:lpstr>目录</vt:lpstr>
      <vt:lpstr>PowerPoint 演示文稿</vt:lpstr>
      <vt:lpstr>一篇论文，核对比读完更贵</vt:lpstr>
      <vt:lpstr>现有工具的位置</vt:lpstr>
      <vt:lpstr>PowerPoint 演示文稿</vt:lpstr>
      <vt:lpstr>五层结构：上层不能越级</vt:lpstr>
      <vt:lpstr>从一份全文到图谱里的一条边</vt:lpstr>
      <vt:lpstr>三道分工与确定性裁判</vt:lpstr>
      <vt:lpstr>证据对象：坐标而不是字符串</vt:lpstr>
      <vt:lpstr>全文知识库：只读接入与实测规模</vt:lpstr>
      <vt:lpstr>PowerPoint 演示文稿</vt:lpstr>
      <vt:lpstr>八页工作区：一条动线走完</vt:lpstr>
      <vt:lpstr>三个可以现场演示的动作</vt:lpstr>
      <vt:lpstr>PowerPoint 演示文稿</vt:lpstr>
      <vt:lpstr>难点一：结论回不到原文</vt:lpstr>
      <vt:lpstr>难点二：候选关系太多，人审不过来</vt:lpstr>
      <vt:lpstr>PowerPoint 演示文稿</vt:lpstr>
      <vt:lpstr>应用前景与下一步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灏天 周</dc:creator>
  <cp:lastModifiedBy>企业用户_973266426</cp:lastModifiedBy>
  <cp:revision>125</cp:revision>
  <dcterms:created xsi:type="dcterms:W3CDTF">2023-06-12T06:17:00Z</dcterms:created>
  <dcterms:modified xsi:type="dcterms:W3CDTF">2026-10-20T14:13:20Z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8544437E20394810B68DA058CE593BE2_13</vt:lpwstr>
  </property>
  <property fmtid="{D5CDD505-2E9C-101B-9397-08002B2CF9AE}" pid="3" name="KSOProductBuildVer">
    <vt:lpwstr>2052-12.1.0.29158</vt:lpwstr>
  </property>
</Properties>
</file>